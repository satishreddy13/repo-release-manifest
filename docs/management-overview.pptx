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88952"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914400"/>
          </a:xfrm>
          <a:prstGeom prst="rect">
            <a:avLst/>
          </a:prstGeom>
          <a:noFill/>
        </p:spPr>
        <p:txBody>
          <a:bodyPr wrap="square">
            <a:spAutoFit/>
          </a:bodyPr>
          <a:lstStyle/>
          <a:p>
            <a:pPr algn="ctr"/>
            <a:r>
              <a:rPr sz="4400" b="1" i="0">
                <a:solidFill>
                  <a:srgbClr val="FFFFFF"/>
                </a:solidFill>
              </a:rPr>
              <a:t>Release Management Strategy</a:t>
            </a:r>
          </a:p>
        </p:txBody>
      </p:sp>
      <p:sp>
        <p:nvSpPr>
          <p:cNvPr id="5" name="TextBox 4"/>
          <p:cNvSpPr txBox="1"/>
          <p:nvPr/>
        </p:nvSpPr>
        <p:spPr>
          <a:xfrm>
            <a:off x="457200" y="2560320"/>
            <a:ext cx="11274552" cy="594360"/>
          </a:xfrm>
          <a:prstGeom prst="rect">
            <a:avLst/>
          </a:prstGeom>
          <a:noFill/>
        </p:spPr>
        <p:txBody>
          <a:bodyPr wrap="square">
            <a:spAutoFit/>
          </a:bodyPr>
          <a:lstStyle/>
          <a:p>
            <a:pPr algn="ctr"/>
            <a:r>
              <a:rPr sz="2000" b="0" i="0">
                <a:solidFill>
                  <a:srgbClr val="DEEBF7"/>
                </a:solidFill>
              </a:rPr>
              <a:t>Controlled, Auditable, Bi-Weekly Delivery — Across All Teams</a:t>
            </a:r>
          </a:p>
        </p:txBody>
      </p:sp>
      <p:sp>
        <p:nvSpPr>
          <p:cNvPr id="6" name="TextBox 5"/>
          <p:cNvSpPr txBox="1"/>
          <p:nvPr/>
        </p:nvSpPr>
        <p:spPr>
          <a:xfrm>
            <a:off x="457200" y="3520440"/>
            <a:ext cx="11274552" cy="457200"/>
          </a:xfrm>
          <a:prstGeom prst="rect">
            <a:avLst/>
          </a:prstGeom>
          <a:noFill/>
        </p:spPr>
        <p:txBody>
          <a:bodyPr wrap="square">
            <a:spAutoFit/>
          </a:bodyPr>
          <a:lstStyle/>
          <a:p>
            <a:pPr algn="ctr"/>
            <a:r>
              <a:rPr sz="1500" b="0" i="0">
                <a:solidFill>
                  <a:srgbClr val="2E75B6"/>
                </a:solidFill>
              </a:rPr>
              <a:t>Bi-Weekly Sprint Cadence  ·  5 Teams  ·  Mixed Delivery Platforms</a:t>
            </a:r>
          </a:p>
        </p:txBody>
      </p:sp>
      <p:sp>
        <p:nvSpPr>
          <p:cNvPr id="7" name="Rectangle 6"/>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11430000" cy="411480"/>
          </a:xfrm>
          <a:prstGeom prst="rect">
            <a:avLst/>
          </a:prstGeom>
          <a:noFill/>
        </p:spPr>
        <p:txBody>
          <a:bodyPr wrap="square">
            <a:spAutoFit/>
          </a:bodyPr>
          <a:lstStyle/>
          <a:p>
            <a:pPr algn="l"/>
            <a:r>
              <a:rPr sz="2200" b="1" i="0">
                <a:solidFill>
                  <a:srgbClr val="FFFFFF"/>
                </a:solidFill>
              </a:rPr>
              <a:t>The Challenge</a:t>
            </a:r>
          </a:p>
        </p:txBody>
      </p:sp>
      <p:sp>
        <p:nvSpPr>
          <p:cNvPr id="5" name="Rectangle 4"/>
          <p:cNvSpPr/>
          <p:nvPr/>
        </p:nvSpPr>
        <p:spPr>
          <a:xfrm>
            <a:off x="320040" y="777240"/>
            <a:ext cx="5486400" cy="3657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795528"/>
            <a:ext cx="5303520" cy="320040"/>
          </a:xfrm>
          <a:prstGeom prst="rect">
            <a:avLst/>
          </a:prstGeom>
          <a:noFill/>
        </p:spPr>
        <p:txBody>
          <a:bodyPr wrap="square">
            <a:spAutoFit/>
          </a:bodyPr>
          <a:lstStyle/>
          <a:p>
            <a:pPr algn="l"/>
            <a:r>
              <a:rPr sz="1300" b="1" i="0">
                <a:solidFill>
                  <a:srgbClr val="FFFFFF"/>
                </a:solidFill>
              </a:rPr>
              <a:t>Before</a:t>
            </a:r>
          </a:p>
        </p:txBody>
      </p:sp>
      <p:sp>
        <p:nvSpPr>
          <p:cNvPr id="7" name="Rectangle 6"/>
          <p:cNvSpPr/>
          <p:nvPr/>
        </p:nvSpPr>
        <p:spPr>
          <a:xfrm>
            <a:off x="320040" y="123444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234440"/>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344168"/>
            <a:ext cx="5029200" cy="640080"/>
          </a:xfrm>
          <a:prstGeom prst="rect">
            <a:avLst/>
          </a:prstGeom>
          <a:noFill/>
        </p:spPr>
        <p:txBody>
          <a:bodyPr wrap="square">
            <a:spAutoFit/>
          </a:bodyPr>
          <a:lstStyle/>
          <a:p>
            <a:pPr algn="l"/>
            <a:r>
              <a:rPr sz="1300" b="0" i="0">
                <a:solidFill>
                  <a:srgbClr val="333333"/>
                </a:solidFill>
              </a:rPr>
              <a:t>No single source of truth — who built what?</a:t>
            </a:r>
          </a:p>
        </p:txBody>
      </p:sp>
      <p:sp>
        <p:nvSpPr>
          <p:cNvPr id="10" name="Rectangle 9"/>
          <p:cNvSpPr/>
          <p:nvPr/>
        </p:nvSpPr>
        <p:spPr>
          <a:xfrm>
            <a:off x="320040" y="214884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48840"/>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2258568"/>
            <a:ext cx="5029200" cy="640080"/>
          </a:xfrm>
          <a:prstGeom prst="rect">
            <a:avLst/>
          </a:prstGeom>
          <a:noFill/>
        </p:spPr>
        <p:txBody>
          <a:bodyPr wrap="square">
            <a:spAutoFit/>
          </a:bodyPr>
          <a:lstStyle/>
          <a:p>
            <a:pPr algn="l"/>
            <a:r>
              <a:rPr sz="1300" b="0" i="0">
                <a:solidFill>
                  <a:srgbClr val="333333"/>
                </a:solidFill>
              </a:rPr>
              <a:t>Impossible to remove one team without rebuilding everything</a:t>
            </a:r>
          </a:p>
        </p:txBody>
      </p:sp>
      <p:sp>
        <p:nvSpPr>
          <p:cNvPr id="13" name="Rectangle 12"/>
          <p:cNvSpPr/>
          <p:nvPr/>
        </p:nvSpPr>
        <p:spPr>
          <a:xfrm>
            <a:off x="320040" y="306324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3063240"/>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 y="3172968"/>
            <a:ext cx="5029200" cy="640080"/>
          </a:xfrm>
          <a:prstGeom prst="rect">
            <a:avLst/>
          </a:prstGeom>
          <a:noFill/>
        </p:spPr>
        <p:txBody>
          <a:bodyPr wrap="square">
            <a:spAutoFit/>
          </a:bodyPr>
          <a:lstStyle/>
          <a:p>
            <a:pPr algn="l"/>
            <a:r>
              <a:rPr sz="1300" b="0" i="0">
                <a:solidFill>
                  <a:srgbClr val="333333"/>
                </a:solidFill>
              </a:rPr>
              <a:t>No record of exactly what was deployed to SIT vs UAT</a:t>
            </a:r>
          </a:p>
        </p:txBody>
      </p:sp>
      <p:sp>
        <p:nvSpPr>
          <p:cNvPr id="16" name="Rectangle 15"/>
          <p:cNvSpPr/>
          <p:nvPr/>
        </p:nvSpPr>
        <p:spPr>
          <a:xfrm>
            <a:off x="320040" y="3977639"/>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3977639"/>
            <a:ext cx="73152" cy="8229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 y="4087368"/>
            <a:ext cx="5029200" cy="640080"/>
          </a:xfrm>
          <a:prstGeom prst="rect">
            <a:avLst/>
          </a:prstGeom>
          <a:noFill/>
        </p:spPr>
        <p:txBody>
          <a:bodyPr wrap="square">
            <a:spAutoFit/>
          </a:bodyPr>
          <a:lstStyle/>
          <a:p>
            <a:pPr algn="l"/>
            <a:r>
              <a:rPr sz="1300" b="0" i="0">
                <a:solidFill>
                  <a:srgbClr val="333333"/>
                </a:solidFill>
              </a:rPr>
              <a:t>Teams on different tools (Git, SharePoint) — no unified process</a:t>
            </a:r>
          </a:p>
        </p:txBody>
      </p:sp>
      <p:sp>
        <p:nvSpPr>
          <p:cNvPr id="19" name="Rectangle 18"/>
          <p:cNvSpPr/>
          <p:nvPr/>
        </p:nvSpPr>
        <p:spPr>
          <a:xfrm>
            <a:off x="6126480" y="777240"/>
            <a:ext cx="5760720" cy="36576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795528"/>
            <a:ext cx="5577840" cy="320040"/>
          </a:xfrm>
          <a:prstGeom prst="rect">
            <a:avLst/>
          </a:prstGeom>
          <a:noFill/>
        </p:spPr>
        <p:txBody>
          <a:bodyPr wrap="square">
            <a:spAutoFit/>
          </a:bodyPr>
          <a:lstStyle/>
          <a:p>
            <a:pPr algn="l"/>
            <a:r>
              <a:rPr sz="1300" b="1" i="0">
                <a:solidFill>
                  <a:srgbClr val="FFFFFF"/>
                </a:solidFill>
              </a:rPr>
              <a:t>After</a:t>
            </a:r>
          </a:p>
        </p:txBody>
      </p:sp>
      <p:sp>
        <p:nvSpPr>
          <p:cNvPr id="21" name="Rectangle 20"/>
          <p:cNvSpPr/>
          <p:nvPr/>
        </p:nvSpPr>
        <p:spPr>
          <a:xfrm>
            <a:off x="6126480" y="1234440"/>
            <a:ext cx="55778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1234440"/>
            <a:ext cx="73152" cy="82296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1344168"/>
            <a:ext cx="5303520" cy="640080"/>
          </a:xfrm>
          <a:prstGeom prst="rect">
            <a:avLst/>
          </a:prstGeom>
          <a:noFill/>
        </p:spPr>
        <p:txBody>
          <a:bodyPr wrap="square">
            <a:spAutoFit/>
          </a:bodyPr>
          <a:lstStyle/>
          <a:p>
            <a:pPr algn="l"/>
            <a:r>
              <a:rPr sz="1300" b="0" i="0">
                <a:solidFill>
                  <a:srgbClr val="333333"/>
                </a:solidFill>
              </a:rPr>
              <a:t>One Excel manifest per sprint — CM owns every build decision</a:t>
            </a:r>
          </a:p>
        </p:txBody>
      </p:sp>
      <p:sp>
        <p:nvSpPr>
          <p:cNvPr id="24" name="Rectangle 23"/>
          <p:cNvSpPr/>
          <p:nvPr/>
        </p:nvSpPr>
        <p:spPr>
          <a:xfrm>
            <a:off x="6126480" y="2148840"/>
            <a:ext cx="55778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2148840"/>
            <a:ext cx="73152" cy="82296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1072" y="2258568"/>
            <a:ext cx="5303520" cy="640080"/>
          </a:xfrm>
          <a:prstGeom prst="rect">
            <a:avLst/>
          </a:prstGeom>
          <a:noFill/>
        </p:spPr>
        <p:txBody>
          <a:bodyPr wrap="square">
            <a:spAutoFit/>
          </a:bodyPr>
          <a:lstStyle/>
          <a:p>
            <a:pPr algn="l"/>
            <a:r>
              <a:rPr sz="1300" b="0" i="0">
                <a:solidFill>
                  <a:srgbClr val="333333"/>
                </a:solidFill>
              </a:rPr>
              <a:t>Any team can be deferred or removed with a single checkbox change</a:t>
            </a:r>
          </a:p>
        </p:txBody>
      </p:sp>
      <p:sp>
        <p:nvSpPr>
          <p:cNvPr id="27" name="Rectangle 26"/>
          <p:cNvSpPr/>
          <p:nvPr/>
        </p:nvSpPr>
        <p:spPr>
          <a:xfrm>
            <a:off x="6126480" y="3063240"/>
            <a:ext cx="55778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063240"/>
            <a:ext cx="73152" cy="82296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1072" y="3172968"/>
            <a:ext cx="5303520" cy="640080"/>
          </a:xfrm>
          <a:prstGeom prst="rect">
            <a:avLst/>
          </a:prstGeom>
          <a:noFill/>
        </p:spPr>
        <p:txBody>
          <a:bodyPr wrap="square">
            <a:spAutoFit/>
          </a:bodyPr>
          <a:lstStyle/>
          <a:p>
            <a:pPr algn="l"/>
            <a:r>
              <a:rPr sz="1300" b="0" i="0">
                <a:solidFill>
                  <a:srgbClr val="333333"/>
                </a:solidFill>
              </a:rPr>
              <a:t>Every environment tagged to an exact version — always auditable</a:t>
            </a:r>
          </a:p>
        </p:txBody>
      </p:sp>
      <p:sp>
        <p:nvSpPr>
          <p:cNvPr id="30" name="Rectangle 29"/>
          <p:cNvSpPr/>
          <p:nvPr/>
        </p:nvSpPr>
        <p:spPr>
          <a:xfrm>
            <a:off x="6126480" y="3977639"/>
            <a:ext cx="55778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3977639"/>
            <a:ext cx="73152" cy="82296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2" y="4087368"/>
            <a:ext cx="5303520" cy="640080"/>
          </a:xfrm>
          <a:prstGeom prst="rect">
            <a:avLst/>
          </a:prstGeom>
          <a:noFill/>
        </p:spPr>
        <p:txBody>
          <a:bodyPr wrap="square">
            <a:spAutoFit/>
          </a:bodyPr>
          <a:lstStyle/>
          <a:p>
            <a:pPr algn="l"/>
            <a:r>
              <a:rPr sz="1300" b="0" i="0">
                <a:solidFill>
                  <a:srgbClr val="333333"/>
                </a:solidFill>
              </a:rPr>
              <a:t>Works for Git teams AND SharePoint teams in the same build</a:t>
            </a:r>
          </a:p>
        </p:txBody>
      </p:sp>
      <p:sp>
        <p:nvSpPr>
          <p:cNvPr id="33" name="Rectangle 32"/>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11430000" cy="411480"/>
          </a:xfrm>
          <a:prstGeom prst="rect">
            <a:avLst/>
          </a:prstGeom>
          <a:noFill/>
        </p:spPr>
        <p:txBody>
          <a:bodyPr wrap="square">
            <a:spAutoFit/>
          </a:bodyPr>
          <a:lstStyle/>
          <a:p>
            <a:pPr algn="l"/>
            <a:r>
              <a:rPr sz="2200" b="1" i="0">
                <a:solidFill>
                  <a:srgbClr val="FFFFFF"/>
                </a:solidFill>
              </a:rPr>
              <a:t>Our Five Teams — Two Delivery Models</a:t>
            </a:r>
          </a:p>
        </p:txBody>
      </p:sp>
      <p:sp>
        <p:nvSpPr>
          <p:cNvPr id="5" name="TextBox 4"/>
          <p:cNvSpPr txBox="1"/>
          <p:nvPr/>
        </p:nvSpPr>
        <p:spPr>
          <a:xfrm>
            <a:off x="320040" y="731520"/>
            <a:ext cx="11521440" cy="365760"/>
          </a:xfrm>
          <a:prstGeom prst="rect">
            <a:avLst/>
          </a:prstGeom>
          <a:noFill/>
        </p:spPr>
        <p:txBody>
          <a:bodyPr wrap="square">
            <a:spAutoFit/>
          </a:bodyPr>
          <a:lstStyle/>
          <a:p>
            <a:pPr algn="l"/>
            <a:r>
              <a:rPr sz="1200" b="0" i="0">
                <a:solidFill>
                  <a:srgbClr val="707070"/>
                </a:solidFill>
              </a:rPr>
              <a:t>All teams feed into one controlled build — regardless of how they store their work</a:t>
            </a:r>
          </a:p>
        </p:txBody>
      </p:sp>
      <p:sp>
        <p:nvSpPr>
          <p:cNvPr id="6" name="Rectangle 5"/>
          <p:cNvSpPr/>
          <p:nvPr/>
        </p:nvSpPr>
        <p:spPr>
          <a:xfrm>
            <a:off x="320040" y="1234440"/>
            <a:ext cx="2194560" cy="3200400"/>
          </a:xfrm>
          <a:prstGeom prst="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34440"/>
            <a:ext cx="2194560" cy="45720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280160"/>
            <a:ext cx="2048255" cy="365760"/>
          </a:xfrm>
          <a:prstGeom prst="rect">
            <a:avLst/>
          </a:prstGeom>
          <a:noFill/>
        </p:spPr>
        <p:txBody>
          <a:bodyPr wrap="square">
            <a:spAutoFit/>
          </a:bodyPr>
          <a:lstStyle/>
          <a:p>
            <a:pPr algn="l"/>
            <a:r>
              <a:rPr sz="1200" b="1" i="0">
                <a:solidFill>
                  <a:srgbClr val="FFFFFF"/>
                </a:solidFill>
              </a:rPr>
              <a:t>Conversion</a:t>
            </a:r>
          </a:p>
        </p:txBody>
      </p:sp>
      <p:sp>
        <p:nvSpPr>
          <p:cNvPr id="9" name="Rectangle 8"/>
          <p:cNvSpPr/>
          <p:nvPr/>
        </p:nvSpPr>
        <p:spPr>
          <a:xfrm>
            <a:off x="1600200" y="1737360"/>
            <a:ext cx="822960" cy="25603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1746504"/>
            <a:ext cx="822960" cy="237744"/>
          </a:xfrm>
          <a:prstGeom prst="rect">
            <a:avLst/>
          </a:prstGeom>
          <a:noFill/>
        </p:spPr>
        <p:txBody>
          <a:bodyPr wrap="square">
            <a:spAutoFit/>
          </a:bodyPr>
          <a:lstStyle/>
          <a:p>
            <a:pPr algn="ctr"/>
            <a:r>
              <a:rPr sz="900" b="1" i="0">
                <a:solidFill>
                  <a:srgbClr val="FFFFFF"/>
                </a:solidFill>
              </a:rPr>
              <a:t>SharePoint</a:t>
            </a:r>
          </a:p>
        </p:txBody>
      </p:sp>
      <p:sp>
        <p:nvSpPr>
          <p:cNvPr id="11" name="TextBox 10"/>
          <p:cNvSpPr txBox="1"/>
          <p:nvPr/>
        </p:nvSpPr>
        <p:spPr>
          <a:xfrm>
            <a:off x="411479" y="2075688"/>
            <a:ext cx="2011679" cy="2286000"/>
          </a:xfrm>
          <a:prstGeom prst="rect">
            <a:avLst/>
          </a:prstGeom>
          <a:noFill/>
        </p:spPr>
        <p:txBody>
          <a:bodyPr wrap="square">
            <a:spAutoFit/>
          </a:bodyPr>
          <a:lstStyle/>
          <a:p>
            <a:pPr algn="l"/>
            <a:r>
              <a:rPr sz="1100" b="0" i="0">
                <a:solidFill>
                  <a:srgbClr val="333333"/>
                </a:solidFill>
              </a:rPr>
              <a:t>Customer data
ETL pipelines
Delivers via:
SharePoint folder
Version tracked
as artifact v1.x</a:t>
            </a:r>
          </a:p>
        </p:txBody>
      </p:sp>
      <p:sp>
        <p:nvSpPr>
          <p:cNvPr id="12" name="Rectangle 11"/>
          <p:cNvSpPr/>
          <p:nvPr/>
        </p:nvSpPr>
        <p:spPr>
          <a:xfrm>
            <a:off x="2697480" y="1234440"/>
            <a:ext cx="2194560" cy="3200400"/>
          </a:xfrm>
          <a:prstGeom prst="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97480" y="1234440"/>
            <a:ext cx="21945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0632" y="1280160"/>
            <a:ext cx="2048255" cy="365760"/>
          </a:xfrm>
          <a:prstGeom prst="rect">
            <a:avLst/>
          </a:prstGeom>
          <a:noFill/>
        </p:spPr>
        <p:txBody>
          <a:bodyPr wrap="square">
            <a:spAutoFit/>
          </a:bodyPr>
          <a:lstStyle/>
          <a:p>
            <a:pPr algn="l"/>
            <a:r>
              <a:rPr sz="1200" b="1" i="0">
                <a:solidFill>
                  <a:srgbClr val="FFFFFF"/>
                </a:solidFill>
              </a:rPr>
              <a:t>Interfaces</a:t>
            </a:r>
          </a:p>
        </p:txBody>
      </p:sp>
      <p:sp>
        <p:nvSpPr>
          <p:cNvPr id="15" name="Rectangle 14"/>
          <p:cNvSpPr/>
          <p:nvPr/>
        </p:nvSpPr>
        <p:spPr>
          <a:xfrm>
            <a:off x="3977639" y="1737360"/>
            <a:ext cx="822960" cy="256032"/>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39" y="1746504"/>
            <a:ext cx="822960" cy="237744"/>
          </a:xfrm>
          <a:prstGeom prst="rect">
            <a:avLst/>
          </a:prstGeom>
          <a:noFill/>
        </p:spPr>
        <p:txBody>
          <a:bodyPr wrap="square">
            <a:spAutoFit/>
          </a:bodyPr>
          <a:lstStyle/>
          <a:p>
            <a:pPr algn="ctr"/>
            <a:r>
              <a:rPr sz="900" b="1" i="0">
                <a:solidFill>
                  <a:srgbClr val="FFFFFF"/>
                </a:solidFill>
              </a:rPr>
              <a:t>Git</a:t>
            </a:r>
          </a:p>
        </p:txBody>
      </p:sp>
      <p:sp>
        <p:nvSpPr>
          <p:cNvPr id="17" name="TextBox 16"/>
          <p:cNvSpPr txBox="1"/>
          <p:nvPr/>
        </p:nvSpPr>
        <p:spPr>
          <a:xfrm>
            <a:off x="2788920" y="2075688"/>
            <a:ext cx="2011679" cy="2286000"/>
          </a:xfrm>
          <a:prstGeom prst="rect">
            <a:avLst/>
          </a:prstGeom>
          <a:noFill/>
        </p:spPr>
        <p:txBody>
          <a:bodyPr wrap="square">
            <a:spAutoFit/>
          </a:bodyPr>
          <a:lstStyle/>
          <a:p>
            <a:pPr algn="l"/>
            <a:r>
              <a:rPr sz="1100" b="0" i="0">
                <a:solidFill>
                  <a:srgbClr val="333333"/>
                </a:solidFill>
              </a:rPr>
              <a:t>REST &amp; file
integrations
Delivers via:
Git branch
Version tracked
as commit SHA</a:t>
            </a:r>
          </a:p>
        </p:txBody>
      </p:sp>
      <p:sp>
        <p:nvSpPr>
          <p:cNvPr id="18" name="Rectangle 17"/>
          <p:cNvSpPr/>
          <p:nvPr/>
        </p:nvSpPr>
        <p:spPr>
          <a:xfrm>
            <a:off x="5074920" y="1234440"/>
            <a:ext cx="2194560" cy="3200400"/>
          </a:xfrm>
          <a:prstGeom prst="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74920" y="1234440"/>
            <a:ext cx="21945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8072" y="1280160"/>
            <a:ext cx="2048255" cy="365760"/>
          </a:xfrm>
          <a:prstGeom prst="rect">
            <a:avLst/>
          </a:prstGeom>
          <a:noFill/>
        </p:spPr>
        <p:txBody>
          <a:bodyPr wrap="square">
            <a:spAutoFit/>
          </a:bodyPr>
          <a:lstStyle/>
          <a:p>
            <a:pPr algn="l"/>
            <a:r>
              <a:rPr sz="1200" b="1" i="0">
                <a:solidFill>
                  <a:srgbClr val="FFFFFF"/>
                </a:solidFill>
              </a:rPr>
              <a:t>Workflow Config</a:t>
            </a:r>
          </a:p>
        </p:txBody>
      </p:sp>
      <p:sp>
        <p:nvSpPr>
          <p:cNvPr id="21" name="Rectangle 20"/>
          <p:cNvSpPr/>
          <p:nvPr/>
        </p:nvSpPr>
        <p:spPr>
          <a:xfrm>
            <a:off x="6355079" y="1737360"/>
            <a:ext cx="822960" cy="256032"/>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79" y="1746504"/>
            <a:ext cx="822960" cy="237744"/>
          </a:xfrm>
          <a:prstGeom prst="rect">
            <a:avLst/>
          </a:prstGeom>
          <a:noFill/>
        </p:spPr>
        <p:txBody>
          <a:bodyPr wrap="square">
            <a:spAutoFit/>
          </a:bodyPr>
          <a:lstStyle/>
          <a:p>
            <a:pPr algn="ctr"/>
            <a:r>
              <a:rPr sz="900" b="1" i="0">
                <a:solidFill>
                  <a:srgbClr val="FFFFFF"/>
                </a:solidFill>
              </a:rPr>
              <a:t>Git</a:t>
            </a:r>
          </a:p>
        </p:txBody>
      </p:sp>
      <p:sp>
        <p:nvSpPr>
          <p:cNvPr id="23" name="TextBox 22"/>
          <p:cNvSpPr txBox="1"/>
          <p:nvPr/>
        </p:nvSpPr>
        <p:spPr>
          <a:xfrm>
            <a:off x="5166359" y="2075688"/>
            <a:ext cx="2011679" cy="2286000"/>
          </a:xfrm>
          <a:prstGeom prst="rect">
            <a:avLst/>
          </a:prstGeom>
          <a:noFill/>
        </p:spPr>
        <p:txBody>
          <a:bodyPr wrap="square">
            <a:spAutoFit/>
          </a:bodyPr>
          <a:lstStyle/>
          <a:p>
            <a:pPr algn="l"/>
            <a:r>
              <a:rPr sz="1100" b="0" i="0">
                <a:solidFill>
                  <a:srgbClr val="333333"/>
                </a:solidFill>
              </a:rPr>
              <a:t>Business workflow
rules &amp; approvals
Delivers via:
Git branch
May be deferred
if not ready</a:t>
            </a:r>
          </a:p>
        </p:txBody>
      </p:sp>
      <p:sp>
        <p:nvSpPr>
          <p:cNvPr id="24" name="Rectangle 23"/>
          <p:cNvSpPr/>
          <p:nvPr/>
        </p:nvSpPr>
        <p:spPr>
          <a:xfrm>
            <a:off x="7452360" y="1234440"/>
            <a:ext cx="2194560" cy="3200400"/>
          </a:xfrm>
          <a:prstGeom prst="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52360" y="1234440"/>
            <a:ext cx="2194560" cy="4572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25512" y="1280160"/>
            <a:ext cx="2048255" cy="365760"/>
          </a:xfrm>
          <a:prstGeom prst="rect">
            <a:avLst/>
          </a:prstGeom>
          <a:noFill/>
        </p:spPr>
        <p:txBody>
          <a:bodyPr wrap="square">
            <a:spAutoFit/>
          </a:bodyPr>
          <a:lstStyle/>
          <a:p>
            <a:pPr algn="l"/>
            <a:r>
              <a:rPr sz="1200" b="1" i="0">
                <a:solidFill>
                  <a:srgbClr val="FFFFFF"/>
                </a:solidFill>
              </a:rPr>
              <a:t>Func Config</a:t>
            </a:r>
          </a:p>
        </p:txBody>
      </p:sp>
      <p:sp>
        <p:nvSpPr>
          <p:cNvPr id="27" name="Rectangle 26"/>
          <p:cNvSpPr/>
          <p:nvPr/>
        </p:nvSpPr>
        <p:spPr>
          <a:xfrm>
            <a:off x="8732520" y="1737360"/>
            <a:ext cx="822960" cy="256032"/>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32520" y="1746504"/>
            <a:ext cx="822960" cy="237744"/>
          </a:xfrm>
          <a:prstGeom prst="rect">
            <a:avLst/>
          </a:prstGeom>
          <a:noFill/>
        </p:spPr>
        <p:txBody>
          <a:bodyPr wrap="square">
            <a:spAutoFit/>
          </a:bodyPr>
          <a:lstStyle/>
          <a:p>
            <a:pPr algn="ctr"/>
            <a:r>
              <a:rPr sz="900" b="1" i="0">
                <a:solidFill>
                  <a:srgbClr val="FFFFFF"/>
                </a:solidFill>
              </a:rPr>
              <a:t>Git</a:t>
            </a:r>
          </a:p>
        </p:txBody>
      </p:sp>
      <p:sp>
        <p:nvSpPr>
          <p:cNvPr id="29" name="TextBox 28"/>
          <p:cNvSpPr txBox="1"/>
          <p:nvPr/>
        </p:nvSpPr>
        <p:spPr>
          <a:xfrm>
            <a:off x="7543800" y="2075688"/>
            <a:ext cx="2011679" cy="2286000"/>
          </a:xfrm>
          <a:prstGeom prst="rect">
            <a:avLst/>
          </a:prstGeom>
          <a:noFill/>
        </p:spPr>
        <p:txBody>
          <a:bodyPr wrap="square">
            <a:spAutoFit/>
          </a:bodyPr>
          <a:lstStyle/>
          <a:p>
            <a:pPr algn="l"/>
            <a:r>
              <a:rPr sz="1100" b="0" i="0">
                <a:solidFill>
                  <a:srgbClr val="333333"/>
                </a:solidFill>
              </a:rPr>
              <a:t>Product config
&amp; region codes
Delivers via:
Git branch
Reference data
for all teams</a:t>
            </a:r>
          </a:p>
        </p:txBody>
      </p:sp>
      <p:sp>
        <p:nvSpPr>
          <p:cNvPr id="30" name="Rectangle 29"/>
          <p:cNvSpPr/>
          <p:nvPr/>
        </p:nvSpPr>
        <p:spPr>
          <a:xfrm>
            <a:off x="9829800" y="1234440"/>
            <a:ext cx="2194560" cy="3200400"/>
          </a:xfrm>
          <a:prstGeom prst="rect">
            <a:avLst/>
          </a:prstGeom>
          <a:solidFill>
            <a:srgbClr val="FFFFFF"/>
          </a:solidFill>
          <a:ln w="635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29800" y="1234440"/>
            <a:ext cx="2194560" cy="4572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02952" y="1280160"/>
            <a:ext cx="2048255" cy="365760"/>
          </a:xfrm>
          <a:prstGeom prst="rect">
            <a:avLst/>
          </a:prstGeom>
          <a:noFill/>
        </p:spPr>
        <p:txBody>
          <a:bodyPr wrap="square">
            <a:spAutoFit/>
          </a:bodyPr>
          <a:lstStyle/>
          <a:p>
            <a:pPr algn="l"/>
            <a:r>
              <a:rPr sz="1200" b="1" i="0">
                <a:solidFill>
                  <a:srgbClr val="FFFFFF"/>
                </a:solidFill>
              </a:rPr>
              <a:t>COTS Platform</a:t>
            </a:r>
          </a:p>
        </p:txBody>
      </p:sp>
      <p:sp>
        <p:nvSpPr>
          <p:cNvPr id="33" name="Rectangle 32"/>
          <p:cNvSpPr/>
          <p:nvPr/>
        </p:nvSpPr>
        <p:spPr>
          <a:xfrm>
            <a:off x="11109960" y="1737360"/>
            <a:ext cx="8229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09960" y="1746504"/>
            <a:ext cx="822960" cy="237744"/>
          </a:xfrm>
          <a:prstGeom prst="rect">
            <a:avLst/>
          </a:prstGeom>
          <a:noFill/>
        </p:spPr>
        <p:txBody>
          <a:bodyPr wrap="square">
            <a:spAutoFit/>
          </a:bodyPr>
          <a:lstStyle/>
          <a:p>
            <a:pPr algn="ctr"/>
            <a:r>
              <a:rPr sz="900" b="1" i="0">
                <a:solidFill>
                  <a:srgbClr val="FFFFFF"/>
                </a:solidFill>
              </a:rPr>
              <a:t>Vendor</a:t>
            </a:r>
          </a:p>
        </p:txBody>
      </p:sp>
      <p:sp>
        <p:nvSpPr>
          <p:cNvPr id="35" name="TextBox 34"/>
          <p:cNvSpPr txBox="1"/>
          <p:nvPr/>
        </p:nvSpPr>
        <p:spPr>
          <a:xfrm>
            <a:off x="9921240" y="2075688"/>
            <a:ext cx="2011679" cy="2286000"/>
          </a:xfrm>
          <a:prstGeom prst="rect">
            <a:avLst/>
          </a:prstGeom>
          <a:noFill/>
        </p:spPr>
        <p:txBody>
          <a:bodyPr wrap="square">
            <a:spAutoFit/>
          </a:bodyPr>
          <a:lstStyle/>
          <a:p>
            <a:pPr algn="l"/>
            <a:r>
              <a:rPr sz="1100" b="0" i="0">
                <a:solidFill>
                  <a:srgbClr val="333333"/>
                </a:solidFill>
              </a:rPr>
              <a:t>Third-party ETL
platform upgrade
Delivers via:
Vendor package
Hotfixes tracked
in build record</a:t>
            </a:r>
          </a:p>
        </p:txBody>
      </p:sp>
      <p:sp>
        <p:nvSpPr>
          <p:cNvPr id="36" name="Rectangle 35"/>
          <p:cNvSpPr/>
          <p:nvPr/>
        </p:nvSpPr>
        <p:spPr>
          <a:xfrm>
            <a:off x="320040" y="4617720"/>
            <a:ext cx="11548872" cy="411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4663440"/>
            <a:ext cx="11548872" cy="320040"/>
          </a:xfrm>
          <a:prstGeom prst="rect">
            <a:avLst/>
          </a:prstGeom>
          <a:noFill/>
        </p:spPr>
        <p:txBody>
          <a:bodyPr wrap="square">
            <a:spAutoFit/>
          </a:bodyPr>
          <a:lstStyle/>
          <a:p>
            <a:pPr algn="ctr"/>
            <a:r>
              <a:rPr sz="1200" b="1" i="0">
                <a:solidFill>
                  <a:srgbClr val="FFFFFF"/>
                </a:solidFill>
              </a:rPr>
              <a:t>CM assembles all five into one controlled build — the manifest is the single record of what went in</a:t>
            </a:r>
          </a:p>
        </p:txBody>
      </p:sp>
      <p:sp>
        <p:nvSpPr>
          <p:cNvPr id="38" name="Rectangle 37"/>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11430000" cy="411480"/>
          </a:xfrm>
          <a:prstGeom prst="rect">
            <a:avLst/>
          </a:prstGeom>
          <a:noFill/>
        </p:spPr>
        <p:txBody>
          <a:bodyPr wrap="square">
            <a:spAutoFit/>
          </a:bodyPr>
          <a:lstStyle/>
          <a:p>
            <a:pPr algn="l"/>
            <a:r>
              <a:rPr sz="2200" b="1" i="0">
                <a:solidFill>
                  <a:srgbClr val="FFFFFF"/>
                </a:solidFill>
              </a:rPr>
              <a:t>The Build Manifest — Excel File, CM-Owned</a:t>
            </a:r>
          </a:p>
        </p:txBody>
      </p:sp>
      <p:sp>
        <p:nvSpPr>
          <p:cNvPr id="5" name="Rectangle 4"/>
          <p:cNvSpPr/>
          <p:nvPr/>
        </p:nvSpPr>
        <p:spPr>
          <a:xfrm>
            <a:off x="320040" y="777240"/>
            <a:ext cx="5029200" cy="41148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832103"/>
            <a:ext cx="4846320" cy="320040"/>
          </a:xfrm>
          <a:prstGeom prst="rect">
            <a:avLst/>
          </a:prstGeom>
          <a:noFill/>
        </p:spPr>
        <p:txBody>
          <a:bodyPr wrap="square">
            <a:spAutoFit/>
          </a:bodyPr>
          <a:lstStyle/>
          <a:p>
            <a:pPr algn="l"/>
            <a:r>
              <a:rPr sz="1300" b="1" i="0">
                <a:solidFill>
                  <a:srgbClr val="FFFFFF"/>
                </a:solidFill>
              </a:rPr>
              <a:t>manifest.xlsx — Sprint 12</a:t>
            </a:r>
          </a:p>
        </p:txBody>
      </p:sp>
      <p:sp>
        <p:nvSpPr>
          <p:cNvPr id="7" name="Rectangle 6"/>
          <p:cNvSpPr/>
          <p:nvPr/>
        </p:nvSpPr>
        <p:spPr>
          <a:xfrm>
            <a:off x="320040" y="1188720"/>
            <a:ext cx="5029200" cy="41148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5" y="1261872"/>
            <a:ext cx="1024127" cy="320040"/>
          </a:xfrm>
          <a:prstGeom prst="rect">
            <a:avLst/>
          </a:prstGeom>
          <a:noFill/>
        </p:spPr>
        <p:txBody>
          <a:bodyPr wrap="square">
            <a:spAutoFit/>
          </a:bodyPr>
          <a:lstStyle/>
          <a:p>
            <a:pPr algn="l"/>
            <a:r>
              <a:rPr sz="900" b="1" i="0">
                <a:solidFill>
                  <a:srgbClr val="FFFFFF"/>
                </a:solidFill>
              </a:rPr>
              <a:t>Team</a:t>
            </a:r>
          </a:p>
        </p:txBody>
      </p:sp>
      <p:sp>
        <p:nvSpPr>
          <p:cNvPr id="9" name="TextBox 8"/>
          <p:cNvSpPr txBox="1"/>
          <p:nvPr/>
        </p:nvSpPr>
        <p:spPr>
          <a:xfrm>
            <a:off x="1453895" y="1261872"/>
            <a:ext cx="749808" cy="320040"/>
          </a:xfrm>
          <a:prstGeom prst="rect">
            <a:avLst/>
          </a:prstGeom>
          <a:noFill/>
        </p:spPr>
        <p:txBody>
          <a:bodyPr wrap="square">
            <a:spAutoFit/>
          </a:bodyPr>
          <a:lstStyle/>
          <a:p>
            <a:pPr algn="l"/>
            <a:r>
              <a:rPr sz="900" b="1" i="0">
                <a:solidFill>
                  <a:srgbClr val="FFFFFF"/>
                </a:solidFill>
              </a:rPr>
              <a:t>Source</a:t>
            </a:r>
          </a:p>
        </p:txBody>
      </p:sp>
      <p:sp>
        <p:nvSpPr>
          <p:cNvPr id="10" name="TextBox 9"/>
          <p:cNvSpPr txBox="1"/>
          <p:nvPr/>
        </p:nvSpPr>
        <p:spPr>
          <a:xfrm>
            <a:off x="2276856" y="1261872"/>
            <a:ext cx="749808" cy="320040"/>
          </a:xfrm>
          <a:prstGeom prst="rect">
            <a:avLst/>
          </a:prstGeom>
          <a:noFill/>
        </p:spPr>
        <p:txBody>
          <a:bodyPr wrap="square">
            <a:spAutoFit/>
          </a:bodyPr>
          <a:lstStyle/>
          <a:p>
            <a:pPr algn="l"/>
            <a:r>
              <a:rPr sz="900" b="1" i="0">
                <a:solidFill>
                  <a:srgbClr val="FFFFFF"/>
                </a:solidFill>
              </a:rPr>
              <a:t>Included?</a:t>
            </a:r>
          </a:p>
        </p:txBody>
      </p:sp>
      <p:sp>
        <p:nvSpPr>
          <p:cNvPr id="11" name="TextBox 10"/>
          <p:cNvSpPr txBox="1"/>
          <p:nvPr/>
        </p:nvSpPr>
        <p:spPr>
          <a:xfrm>
            <a:off x="3099815" y="1261872"/>
            <a:ext cx="932688" cy="320040"/>
          </a:xfrm>
          <a:prstGeom prst="rect">
            <a:avLst/>
          </a:prstGeom>
          <a:noFill/>
        </p:spPr>
        <p:txBody>
          <a:bodyPr wrap="square">
            <a:spAutoFit/>
          </a:bodyPr>
          <a:lstStyle/>
          <a:p>
            <a:pPr algn="l"/>
            <a:r>
              <a:rPr sz="900" b="1" i="0">
                <a:solidFill>
                  <a:srgbClr val="FFFFFF"/>
                </a:solidFill>
              </a:rPr>
              <a:t>Version</a:t>
            </a:r>
          </a:p>
        </p:txBody>
      </p:sp>
      <p:sp>
        <p:nvSpPr>
          <p:cNvPr id="12" name="TextBox 11"/>
          <p:cNvSpPr txBox="1"/>
          <p:nvPr/>
        </p:nvSpPr>
        <p:spPr>
          <a:xfrm>
            <a:off x="4105655" y="1261872"/>
            <a:ext cx="1207007" cy="320040"/>
          </a:xfrm>
          <a:prstGeom prst="rect">
            <a:avLst/>
          </a:prstGeom>
          <a:noFill/>
        </p:spPr>
        <p:txBody>
          <a:bodyPr wrap="square">
            <a:spAutoFit/>
          </a:bodyPr>
          <a:lstStyle/>
          <a:p>
            <a:pPr algn="l"/>
            <a:r>
              <a:rPr sz="900" b="1" i="0">
                <a:solidFill>
                  <a:srgbClr val="FFFFFF"/>
                </a:solidFill>
              </a:rPr>
              <a:t>ELM Items</a:t>
            </a:r>
          </a:p>
        </p:txBody>
      </p:sp>
      <p:sp>
        <p:nvSpPr>
          <p:cNvPr id="13" name="Rectangle 12"/>
          <p:cNvSpPr/>
          <p:nvPr/>
        </p:nvSpPr>
        <p:spPr>
          <a:xfrm>
            <a:off x="320040" y="1600200"/>
            <a:ext cx="5029200" cy="4114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5" y="1682496"/>
            <a:ext cx="1024127" cy="301752"/>
          </a:xfrm>
          <a:prstGeom prst="rect">
            <a:avLst/>
          </a:prstGeom>
          <a:noFill/>
        </p:spPr>
        <p:txBody>
          <a:bodyPr wrap="square">
            <a:spAutoFit/>
          </a:bodyPr>
          <a:lstStyle/>
          <a:p>
            <a:pPr algn="l"/>
            <a:r>
              <a:rPr sz="900" b="0" i="0">
                <a:solidFill>
                  <a:srgbClr val="333333"/>
                </a:solidFill>
              </a:rPr>
              <a:t>Conversion</a:t>
            </a:r>
          </a:p>
        </p:txBody>
      </p:sp>
      <p:sp>
        <p:nvSpPr>
          <p:cNvPr id="15" name="TextBox 14"/>
          <p:cNvSpPr txBox="1"/>
          <p:nvPr/>
        </p:nvSpPr>
        <p:spPr>
          <a:xfrm>
            <a:off x="1453895" y="1682496"/>
            <a:ext cx="749808" cy="301752"/>
          </a:xfrm>
          <a:prstGeom prst="rect">
            <a:avLst/>
          </a:prstGeom>
          <a:noFill/>
        </p:spPr>
        <p:txBody>
          <a:bodyPr wrap="square">
            <a:spAutoFit/>
          </a:bodyPr>
          <a:lstStyle/>
          <a:p>
            <a:pPr algn="l"/>
            <a:r>
              <a:rPr sz="900" b="0" i="0">
                <a:solidFill>
                  <a:srgbClr val="333333"/>
                </a:solidFill>
              </a:rPr>
              <a:t>SharePoint</a:t>
            </a:r>
          </a:p>
        </p:txBody>
      </p:sp>
      <p:sp>
        <p:nvSpPr>
          <p:cNvPr id="16" name="TextBox 15"/>
          <p:cNvSpPr txBox="1"/>
          <p:nvPr/>
        </p:nvSpPr>
        <p:spPr>
          <a:xfrm>
            <a:off x="2276856" y="1682496"/>
            <a:ext cx="749808" cy="301752"/>
          </a:xfrm>
          <a:prstGeom prst="rect">
            <a:avLst/>
          </a:prstGeom>
          <a:noFill/>
        </p:spPr>
        <p:txBody>
          <a:bodyPr wrap="square">
            <a:spAutoFit/>
          </a:bodyPr>
          <a:lstStyle/>
          <a:p>
            <a:pPr algn="l"/>
            <a:r>
              <a:rPr sz="900" b="1" i="0">
                <a:solidFill>
                  <a:srgbClr val="378F5C"/>
                </a:solidFill>
              </a:rPr>
              <a:t>✅ Yes</a:t>
            </a:r>
          </a:p>
        </p:txBody>
      </p:sp>
      <p:sp>
        <p:nvSpPr>
          <p:cNvPr id="17" name="TextBox 16"/>
          <p:cNvSpPr txBox="1"/>
          <p:nvPr/>
        </p:nvSpPr>
        <p:spPr>
          <a:xfrm>
            <a:off x="3099815" y="1682496"/>
            <a:ext cx="932688" cy="301752"/>
          </a:xfrm>
          <a:prstGeom prst="rect">
            <a:avLst/>
          </a:prstGeom>
          <a:noFill/>
        </p:spPr>
        <p:txBody>
          <a:bodyPr wrap="square">
            <a:spAutoFit/>
          </a:bodyPr>
          <a:lstStyle/>
          <a:p>
            <a:pPr algn="l"/>
            <a:r>
              <a:rPr sz="900" b="0" i="0">
                <a:solidFill>
                  <a:srgbClr val="333333"/>
                </a:solidFill>
              </a:rPr>
              <a:t>v1.3</a:t>
            </a:r>
          </a:p>
        </p:txBody>
      </p:sp>
      <p:sp>
        <p:nvSpPr>
          <p:cNvPr id="18" name="TextBox 17"/>
          <p:cNvSpPr txBox="1"/>
          <p:nvPr/>
        </p:nvSpPr>
        <p:spPr>
          <a:xfrm>
            <a:off x="4105655" y="1682496"/>
            <a:ext cx="1207007" cy="301752"/>
          </a:xfrm>
          <a:prstGeom prst="rect">
            <a:avLst/>
          </a:prstGeom>
          <a:noFill/>
        </p:spPr>
        <p:txBody>
          <a:bodyPr wrap="square">
            <a:spAutoFit/>
          </a:bodyPr>
          <a:lstStyle/>
          <a:p>
            <a:pPr algn="l"/>
            <a:r>
              <a:rPr sz="900" b="0" i="0">
                <a:solidFill>
                  <a:srgbClr val="333333"/>
                </a:solidFill>
              </a:rPr>
              <a:t>ELM-1201, 1202, 1208</a:t>
            </a:r>
          </a:p>
        </p:txBody>
      </p:sp>
      <p:sp>
        <p:nvSpPr>
          <p:cNvPr id="19" name="Rectangle 18"/>
          <p:cNvSpPr/>
          <p:nvPr/>
        </p:nvSpPr>
        <p:spPr>
          <a:xfrm>
            <a:off x="320040" y="201168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5" y="2093976"/>
            <a:ext cx="1024127" cy="301752"/>
          </a:xfrm>
          <a:prstGeom prst="rect">
            <a:avLst/>
          </a:prstGeom>
          <a:noFill/>
        </p:spPr>
        <p:txBody>
          <a:bodyPr wrap="square">
            <a:spAutoFit/>
          </a:bodyPr>
          <a:lstStyle/>
          <a:p>
            <a:pPr algn="l"/>
            <a:r>
              <a:rPr sz="900" b="0" i="0">
                <a:solidFill>
                  <a:srgbClr val="333333"/>
                </a:solidFill>
              </a:rPr>
              <a:t>Interfaces</a:t>
            </a:r>
          </a:p>
        </p:txBody>
      </p:sp>
      <p:sp>
        <p:nvSpPr>
          <p:cNvPr id="21" name="TextBox 20"/>
          <p:cNvSpPr txBox="1"/>
          <p:nvPr/>
        </p:nvSpPr>
        <p:spPr>
          <a:xfrm>
            <a:off x="1453895" y="2093976"/>
            <a:ext cx="749808" cy="301752"/>
          </a:xfrm>
          <a:prstGeom prst="rect">
            <a:avLst/>
          </a:prstGeom>
          <a:noFill/>
        </p:spPr>
        <p:txBody>
          <a:bodyPr wrap="square">
            <a:spAutoFit/>
          </a:bodyPr>
          <a:lstStyle/>
          <a:p>
            <a:pPr algn="l"/>
            <a:r>
              <a:rPr sz="900" b="0" i="0">
                <a:solidFill>
                  <a:srgbClr val="333333"/>
                </a:solidFill>
              </a:rPr>
              <a:t>Git</a:t>
            </a:r>
          </a:p>
        </p:txBody>
      </p:sp>
      <p:sp>
        <p:nvSpPr>
          <p:cNvPr id="22" name="TextBox 21"/>
          <p:cNvSpPr txBox="1"/>
          <p:nvPr/>
        </p:nvSpPr>
        <p:spPr>
          <a:xfrm>
            <a:off x="2276856" y="2093976"/>
            <a:ext cx="749808" cy="301752"/>
          </a:xfrm>
          <a:prstGeom prst="rect">
            <a:avLst/>
          </a:prstGeom>
          <a:noFill/>
        </p:spPr>
        <p:txBody>
          <a:bodyPr wrap="square">
            <a:spAutoFit/>
          </a:bodyPr>
          <a:lstStyle/>
          <a:p>
            <a:pPr algn="l"/>
            <a:r>
              <a:rPr sz="900" b="1" i="0">
                <a:solidFill>
                  <a:srgbClr val="378F5C"/>
                </a:solidFill>
              </a:rPr>
              <a:t>✅ Yes</a:t>
            </a:r>
          </a:p>
        </p:txBody>
      </p:sp>
      <p:sp>
        <p:nvSpPr>
          <p:cNvPr id="23" name="TextBox 22"/>
          <p:cNvSpPr txBox="1"/>
          <p:nvPr/>
        </p:nvSpPr>
        <p:spPr>
          <a:xfrm>
            <a:off x="3099815" y="2093976"/>
            <a:ext cx="932688" cy="301752"/>
          </a:xfrm>
          <a:prstGeom prst="rect">
            <a:avLst/>
          </a:prstGeom>
          <a:noFill/>
        </p:spPr>
        <p:txBody>
          <a:bodyPr wrap="square">
            <a:spAutoFit/>
          </a:bodyPr>
          <a:lstStyle/>
          <a:p>
            <a:pPr algn="l"/>
            <a:r>
              <a:rPr sz="900" b="0" i="0">
                <a:solidFill>
                  <a:srgbClr val="333333"/>
                </a:solidFill>
              </a:rPr>
              <a:t>b2c3d4e5</a:t>
            </a:r>
          </a:p>
        </p:txBody>
      </p:sp>
      <p:sp>
        <p:nvSpPr>
          <p:cNvPr id="24" name="TextBox 23"/>
          <p:cNvSpPr txBox="1"/>
          <p:nvPr/>
        </p:nvSpPr>
        <p:spPr>
          <a:xfrm>
            <a:off x="4105655" y="2093976"/>
            <a:ext cx="1207007" cy="301752"/>
          </a:xfrm>
          <a:prstGeom prst="rect">
            <a:avLst/>
          </a:prstGeom>
          <a:noFill/>
        </p:spPr>
        <p:txBody>
          <a:bodyPr wrap="square">
            <a:spAutoFit/>
          </a:bodyPr>
          <a:lstStyle/>
          <a:p>
            <a:pPr algn="l"/>
            <a:r>
              <a:rPr sz="900" b="0" i="0">
                <a:solidFill>
                  <a:srgbClr val="333333"/>
                </a:solidFill>
              </a:rPr>
              <a:t>ELM-1210, 1215</a:t>
            </a:r>
          </a:p>
        </p:txBody>
      </p:sp>
      <p:sp>
        <p:nvSpPr>
          <p:cNvPr id="25" name="Rectangle 24"/>
          <p:cNvSpPr/>
          <p:nvPr/>
        </p:nvSpPr>
        <p:spPr>
          <a:xfrm>
            <a:off x="320040" y="2423160"/>
            <a:ext cx="5029200" cy="4114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5" y="2505456"/>
            <a:ext cx="1024127" cy="301752"/>
          </a:xfrm>
          <a:prstGeom prst="rect">
            <a:avLst/>
          </a:prstGeom>
          <a:noFill/>
        </p:spPr>
        <p:txBody>
          <a:bodyPr wrap="square">
            <a:spAutoFit/>
          </a:bodyPr>
          <a:lstStyle/>
          <a:p>
            <a:pPr algn="l"/>
            <a:r>
              <a:rPr sz="900" b="0" i="0">
                <a:solidFill>
                  <a:srgbClr val="333333"/>
                </a:solidFill>
              </a:rPr>
              <a:t>Workflow Config</a:t>
            </a:r>
          </a:p>
        </p:txBody>
      </p:sp>
      <p:sp>
        <p:nvSpPr>
          <p:cNvPr id="27" name="TextBox 26"/>
          <p:cNvSpPr txBox="1"/>
          <p:nvPr/>
        </p:nvSpPr>
        <p:spPr>
          <a:xfrm>
            <a:off x="1453895" y="2505456"/>
            <a:ext cx="749808" cy="301752"/>
          </a:xfrm>
          <a:prstGeom prst="rect">
            <a:avLst/>
          </a:prstGeom>
          <a:noFill/>
        </p:spPr>
        <p:txBody>
          <a:bodyPr wrap="square">
            <a:spAutoFit/>
          </a:bodyPr>
          <a:lstStyle/>
          <a:p>
            <a:pPr algn="l"/>
            <a:r>
              <a:rPr sz="900" b="0" i="0">
                <a:solidFill>
                  <a:srgbClr val="333333"/>
                </a:solidFill>
              </a:rPr>
              <a:t>Git</a:t>
            </a:r>
          </a:p>
        </p:txBody>
      </p:sp>
      <p:sp>
        <p:nvSpPr>
          <p:cNvPr id="28" name="TextBox 27"/>
          <p:cNvSpPr txBox="1"/>
          <p:nvPr/>
        </p:nvSpPr>
        <p:spPr>
          <a:xfrm>
            <a:off x="2276856" y="2505456"/>
            <a:ext cx="749808" cy="301752"/>
          </a:xfrm>
          <a:prstGeom prst="rect">
            <a:avLst/>
          </a:prstGeom>
          <a:noFill/>
        </p:spPr>
        <p:txBody>
          <a:bodyPr wrap="square">
            <a:spAutoFit/>
          </a:bodyPr>
          <a:lstStyle/>
          <a:p>
            <a:pPr algn="l"/>
            <a:r>
              <a:rPr sz="900" b="1" i="0">
                <a:solidFill>
                  <a:srgbClr val="F0A500"/>
                </a:solidFill>
              </a:rPr>
              <a:t>⛔ Deferred</a:t>
            </a:r>
          </a:p>
        </p:txBody>
      </p:sp>
      <p:sp>
        <p:nvSpPr>
          <p:cNvPr id="29" name="TextBox 28"/>
          <p:cNvSpPr txBox="1"/>
          <p:nvPr/>
        </p:nvSpPr>
        <p:spPr>
          <a:xfrm>
            <a:off x="3099815" y="2505456"/>
            <a:ext cx="932688" cy="301752"/>
          </a:xfrm>
          <a:prstGeom prst="rect">
            <a:avLst/>
          </a:prstGeom>
          <a:noFill/>
        </p:spPr>
        <p:txBody>
          <a:bodyPr wrap="square">
            <a:spAutoFit/>
          </a:bodyPr>
          <a:lstStyle/>
          <a:p>
            <a:pPr algn="l"/>
            <a:r>
              <a:rPr sz="900" b="0" i="0">
                <a:solidFill>
                  <a:srgbClr val="333333"/>
                </a:solidFill>
              </a:rPr>
              <a:t>—</a:t>
            </a:r>
          </a:p>
        </p:txBody>
      </p:sp>
      <p:sp>
        <p:nvSpPr>
          <p:cNvPr id="30" name="TextBox 29"/>
          <p:cNvSpPr txBox="1"/>
          <p:nvPr/>
        </p:nvSpPr>
        <p:spPr>
          <a:xfrm>
            <a:off x="4105655" y="2505456"/>
            <a:ext cx="1207007" cy="301752"/>
          </a:xfrm>
          <a:prstGeom prst="rect">
            <a:avLst/>
          </a:prstGeom>
          <a:noFill/>
        </p:spPr>
        <p:txBody>
          <a:bodyPr wrap="square">
            <a:spAutoFit/>
          </a:bodyPr>
          <a:lstStyle/>
          <a:p>
            <a:pPr algn="l"/>
            <a:r>
              <a:rPr sz="900" b="0" i="0">
                <a:solidFill>
                  <a:srgbClr val="333333"/>
                </a:solidFill>
              </a:rPr>
              <a:t>ELM-1220, 1221</a:t>
            </a:r>
          </a:p>
        </p:txBody>
      </p:sp>
      <p:sp>
        <p:nvSpPr>
          <p:cNvPr id="31" name="Rectangle 30"/>
          <p:cNvSpPr/>
          <p:nvPr/>
        </p:nvSpPr>
        <p:spPr>
          <a:xfrm>
            <a:off x="320040" y="283464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5" y="2916936"/>
            <a:ext cx="1024127" cy="301752"/>
          </a:xfrm>
          <a:prstGeom prst="rect">
            <a:avLst/>
          </a:prstGeom>
          <a:noFill/>
        </p:spPr>
        <p:txBody>
          <a:bodyPr wrap="square">
            <a:spAutoFit/>
          </a:bodyPr>
          <a:lstStyle/>
          <a:p>
            <a:pPr algn="l"/>
            <a:r>
              <a:rPr sz="900" b="0" i="0">
                <a:solidFill>
                  <a:srgbClr val="333333"/>
                </a:solidFill>
              </a:rPr>
              <a:t>Func Config</a:t>
            </a:r>
          </a:p>
        </p:txBody>
      </p:sp>
      <p:sp>
        <p:nvSpPr>
          <p:cNvPr id="33" name="TextBox 32"/>
          <p:cNvSpPr txBox="1"/>
          <p:nvPr/>
        </p:nvSpPr>
        <p:spPr>
          <a:xfrm>
            <a:off x="1453895" y="2916936"/>
            <a:ext cx="749808" cy="301752"/>
          </a:xfrm>
          <a:prstGeom prst="rect">
            <a:avLst/>
          </a:prstGeom>
          <a:noFill/>
        </p:spPr>
        <p:txBody>
          <a:bodyPr wrap="square">
            <a:spAutoFit/>
          </a:bodyPr>
          <a:lstStyle/>
          <a:p>
            <a:pPr algn="l"/>
            <a:r>
              <a:rPr sz="900" b="0" i="0">
                <a:solidFill>
                  <a:srgbClr val="333333"/>
                </a:solidFill>
              </a:rPr>
              <a:t>Git</a:t>
            </a:r>
          </a:p>
        </p:txBody>
      </p:sp>
      <p:sp>
        <p:nvSpPr>
          <p:cNvPr id="34" name="TextBox 33"/>
          <p:cNvSpPr txBox="1"/>
          <p:nvPr/>
        </p:nvSpPr>
        <p:spPr>
          <a:xfrm>
            <a:off x="2276856" y="2916936"/>
            <a:ext cx="749808" cy="301752"/>
          </a:xfrm>
          <a:prstGeom prst="rect">
            <a:avLst/>
          </a:prstGeom>
          <a:noFill/>
        </p:spPr>
        <p:txBody>
          <a:bodyPr wrap="square">
            <a:spAutoFit/>
          </a:bodyPr>
          <a:lstStyle/>
          <a:p>
            <a:pPr algn="l"/>
            <a:r>
              <a:rPr sz="900" b="1" i="0">
                <a:solidFill>
                  <a:srgbClr val="378F5C"/>
                </a:solidFill>
              </a:rPr>
              <a:t>✅ Yes</a:t>
            </a:r>
          </a:p>
        </p:txBody>
      </p:sp>
      <p:sp>
        <p:nvSpPr>
          <p:cNvPr id="35" name="TextBox 34"/>
          <p:cNvSpPr txBox="1"/>
          <p:nvPr/>
        </p:nvSpPr>
        <p:spPr>
          <a:xfrm>
            <a:off x="3099815" y="2916936"/>
            <a:ext cx="932688" cy="301752"/>
          </a:xfrm>
          <a:prstGeom prst="rect">
            <a:avLst/>
          </a:prstGeom>
          <a:noFill/>
        </p:spPr>
        <p:txBody>
          <a:bodyPr wrap="square">
            <a:spAutoFit/>
          </a:bodyPr>
          <a:lstStyle/>
          <a:p>
            <a:pPr algn="l"/>
            <a:r>
              <a:rPr sz="900" b="0" i="0">
                <a:solidFill>
                  <a:srgbClr val="333333"/>
                </a:solidFill>
              </a:rPr>
              <a:t>c3d4e5f6</a:t>
            </a:r>
          </a:p>
        </p:txBody>
      </p:sp>
      <p:sp>
        <p:nvSpPr>
          <p:cNvPr id="36" name="TextBox 35"/>
          <p:cNvSpPr txBox="1"/>
          <p:nvPr/>
        </p:nvSpPr>
        <p:spPr>
          <a:xfrm>
            <a:off x="4105655" y="2916936"/>
            <a:ext cx="1207007" cy="301752"/>
          </a:xfrm>
          <a:prstGeom prst="rect">
            <a:avLst/>
          </a:prstGeom>
          <a:noFill/>
        </p:spPr>
        <p:txBody>
          <a:bodyPr wrap="square">
            <a:spAutoFit/>
          </a:bodyPr>
          <a:lstStyle/>
          <a:p>
            <a:pPr algn="l"/>
            <a:r>
              <a:rPr sz="900" b="0" i="0">
                <a:solidFill>
                  <a:srgbClr val="333333"/>
                </a:solidFill>
              </a:rPr>
              <a:t>ELM-1230, 1231</a:t>
            </a:r>
          </a:p>
        </p:txBody>
      </p:sp>
      <p:sp>
        <p:nvSpPr>
          <p:cNvPr id="37" name="Rectangle 36"/>
          <p:cNvSpPr/>
          <p:nvPr/>
        </p:nvSpPr>
        <p:spPr>
          <a:xfrm>
            <a:off x="5669280" y="777240"/>
            <a:ext cx="6217920"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0" y="795528"/>
            <a:ext cx="6035040" cy="274320"/>
          </a:xfrm>
          <a:prstGeom prst="rect">
            <a:avLst/>
          </a:prstGeom>
          <a:noFill/>
        </p:spPr>
        <p:txBody>
          <a:bodyPr wrap="square">
            <a:spAutoFit/>
          </a:bodyPr>
          <a:lstStyle/>
          <a:p>
            <a:pPr algn="l"/>
            <a:r>
              <a:rPr sz="1300" b="1" i="0">
                <a:solidFill>
                  <a:srgbClr val="FFFFFF"/>
                </a:solidFill>
              </a:rPr>
              <a:t>What the manifest controls</a:t>
            </a:r>
          </a:p>
        </p:txBody>
      </p:sp>
      <p:sp>
        <p:nvSpPr>
          <p:cNvPr id="39" name="TextBox 38"/>
          <p:cNvSpPr txBox="1"/>
          <p:nvPr/>
        </p:nvSpPr>
        <p:spPr>
          <a:xfrm>
            <a:off x="5669280" y="1188720"/>
            <a:ext cx="6217920" cy="2560320"/>
          </a:xfrm>
          <a:prstGeom prst="rect">
            <a:avLst/>
          </a:prstGeom>
          <a:noFill/>
        </p:spPr>
        <p:txBody>
          <a:bodyPr wrap="square">
            <a:spAutoFit/>
          </a:bodyPr>
          <a:lstStyle/>
          <a:p>
            <a:pPr>
              <a:spcAft>
                <a:spcPts val="1000"/>
              </a:spcAft>
            </a:pPr>
            <a:r>
              <a:rPr sz="1300">
                <a:solidFill>
                  <a:srgbClr val="333333"/>
                </a:solidFill>
              </a:rPr>
              <a:t>• Which teams are in this build — and which are held back</a:t>
            </a:r>
          </a:p>
          <a:p>
            <a:pPr>
              <a:spcAft>
                <a:spcPts val="1000"/>
              </a:spcAft>
            </a:pPr>
            <a:r>
              <a:rPr sz="1300">
                <a:solidFill>
                  <a:srgbClr val="333333"/>
                </a:solidFill>
              </a:rPr>
              <a:t>• The exact version (commit or file) deployed to each environment</a:t>
            </a:r>
          </a:p>
          <a:p>
            <a:pPr>
              <a:spcAft>
                <a:spcPts val="1000"/>
              </a:spcAft>
            </a:pPr>
            <a:r>
              <a:rPr sz="1300">
                <a:solidFill>
                  <a:srgbClr val="333333"/>
                </a:solidFill>
              </a:rPr>
              <a:t>• COTS platform version and hotfix list</a:t>
            </a:r>
          </a:p>
          <a:p>
            <a:pPr>
              <a:spcAft>
                <a:spcPts val="1000"/>
              </a:spcAft>
            </a:pPr>
            <a:r>
              <a:rPr sz="1300">
                <a:solidFill>
                  <a:srgbClr val="333333"/>
                </a:solidFill>
              </a:rPr>
              <a:t>• Who built it, when, and which ELM work items are included</a:t>
            </a:r>
          </a:p>
          <a:p>
            <a:pPr>
              <a:spcAft>
                <a:spcPts val="1000"/>
              </a:spcAft>
            </a:pPr>
            <a:r>
              <a:rPr sz="1300">
                <a:solidFill>
                  <a:srgbClr val="333333"/>
                </a:solidFill>
              </a:rPr>
              <a:t>• SIT and UAT deployment status — updated as environments progress</a:t>
            </a:r>
          </a:p>
        </p:txBody>
      </p:sp>
      <p:sp>
        <p:nvSpPr>
          <p:cNvPr id="40" name="Rectangle 39"/>
          <p:cNvSpPr/>
          <p:nvPr/>
        </p:nvSpPr>
        <p:spPr>
          <a:xfrm>
            <a:off x="5669280" y="3886200"/>
            <a:ext cx="6217920" cy="1371600"/>
          </a:xfrm>
          <a:prstGeom prst="rect">
            <a:avLst/>
          </a:prstGeom>
          <a:solidFill>
            <a:srgbClr val="DE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3977639"/>
            <a:ext cx="5943600" cy="365760"/>
          </a:xfrm>
          <a:prstGeom prst="rect">
            <a:avLst/>
          </a:prstGeom>
          <a:noFill/>
        </p:spPr>
        <p:txBody>
          <a:bodyPr wrap="square">
            <a:spAutoFit/>
          </a:bodyPr>
          <a:lstStyle/>
          <a:p>
            <a:pPr algn="l"/>
            <a:r>
              <a:rPr sz="1300" b="1" i="0">
                <a:solidFill>
                  <a:srgbClr val="1F4E79"/>
                </a:solidFill>
              </a:rPr>
              <a:t>CM approves every change to this file</a:t>
            </a:r>
          </a:p>
        </p:txBody>
      </p:sp>
      <p:sp>
        <p:nvSpPr>
          <p:cNvPr id="42" name="TextBox 41"/>
          <p:cNvSpPr txBox="1"/>
          <p:nvPr/>
        </p:nvSpPr>
        <p:spPr>
          <a:xfrm>
            <a:off x="5806440" y="4343400"/>
            <a:ext cx="5943600" cy="822960"/>
          </a:xfrm>
          <a:prstGeom prst="rect">
            <a:avLst/>
          </a:prstGeom>
          <a:noFill/>
        </p:spPr>
        <p:txBody>
          <a:bodyPr wrap="square">
            <a:spAutoFit/>
          </a:bodyPr>
          <a:lstStyle/>
          <a:p>
            <a:pPr algn="l"/>
            <a:r>
              <a:rPr sz="1200" b="0" i="0">
                <a:solidFill>
                  <a:srgbClr val="333333"/>
                </a:solidFill>
              </a:rPr>
              <a:t>The manifest lives in a controlled repository. All edits are tracked with a full audit trail — who changed what and when.</a:t>
            </a:r>
          </a:p>
        </p:txBody>
      </p:sp>
      <p:sp>
        <p:nvSpPr>
          <p:cNvPr id="43" name="Rectangle 42"/>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11430000" cy="411480"/>
          </a:xfrm>
          <a:prstGeom prst="rect">
            <a:avLst/>
          </a:prstGeom>
          <a:noFill/>
        </p:spPr>
        <p:txBody>
          <a:bodyPr wrap="square">
            <a:spAutoFit/>
          </a:bodyPr>
          <a:lstStyle/>
          <a:p>
            <a:pPr algn="l"/>
            <a:r>
              <a:rPr sz="2200" b="1" i="0">
                <a:solidFill>
                  <a:srgbClr val="FFFFFF"/>
                </a:solidFill>
              </a:rPr>
              <a:t>Sprint-12 in Numbers — From Start to Sign-Off</a:t>
            </a:r>
          </a:p>
        </p:txBody>
      </p:sp>
      <p:sp>
        <p:nvSpPr>
          <p:cNvPr id="5" name="Rectangle 4"/>
          <p:cNvSpPr/>
          <p:nvPr/>
        </p:nvSpPr>
        <p:spPr>
          <a:xfrm>
            <a:off x="457200" y="3108960"/>
            <a:ext cx="11274552"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97180"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79" y="3364991"/>
            <a:ext cx="1280160" cy="594360"/>
          </a:xfrm>
          <a:prstGeom prst="rect">
            <a:avLst/>
          </a:prstGeom>
          <a:noFill/>
        </p:spPr>
        <p:txBody>
          <a:bodyPr wrap="square">
            <a:spAutoFit/>
          </a:bodyPr>
          <a:lstStyle/>
          <a:p>
            <a:pPr algn="ctr"/>
            <a:r>
              <a:rPr sz="1000" b="0" i="0">
                <a:solidFill>
                  <a:srgbClr val="333333"/>
                </a:solidFill>
              </a:rPr>
              <a:t>Day 1
Sprint Cut</a:t>
            </a:r>
          </a:p>
        </p:txBody>
      </p:sp>
      <p:sp>
        <p:nvSpPr>
          <p:cNvPr id="8" name="TextBox 7"/>
          <p:cNvSpPr txBox="1"/>
          <p:nvPr/>
        </p:nvSpPr>
        <p:spPr>
          <a:xfrm>
            <a:off x="-228600" y="2240280"/>
            <a:ext cx="1371600" cy="594360"/>
          </a:xfrm>
          <a:prstGeom prst="rect">
            <a:avLst/>
          </a:prstGeom>
          <a:noFill/>
        </p:spPr>
        <p:txBody>
          <a:bodyPr wrap="square">
            <a:spAutoFit/>
          </a:bodyPr>
          <a:lstStyle/>
          <a:p>
            <a:pPr algn="ctr"/>
            <a:r>
              <a:rPr sz="900" b="0" i="0">
                <a:solidFill>
                  <a:srgbClr val="1F4E79"/>
                </a:solidFill>
              </a:rPr>
              <a:t>Branches created
(Git teams)</a:t>
            </a:r>
          </a:p>
        </p:txBody>
      </p:sp>
      <p:sp>
        <p:nvSpPr>
          <p:cNvPr id="9" name="Oval 8"/>
          <p:cNvSpPr/>
          <p:nvPr/>
        </p:nvSpPr>
        <p:spPr>
          <a:xfrm>
            <a:off x="1907830"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7770" y="3364991"/>
            <a:ext cx="1280160" cy="594360"/>
          </a:xfrm>
          <a:prstGeom prst="rect">
            <a:avLst/>
          </a:prstGeom>
          <a:noFill/>
        </p:spPr>
        <p:txBody>
          <a:bodyPr wrap="square">
            <a:spAutoFit/>
          </a:bodyPr>
          <a:lstStyle/>
          <a:p>
            <a:pPr algn="ctr"/>
            <a:r>
              <a:rPr sz="1000" b="0" i="0">
                <a:solidFill>
                  <a:srgbClr val="333333"/>
                </a:solidFill>
              </a:rPr>
              <a:t>Days 2-9
Teams Develop</a:t>
            </a:r>
          </a:p>
        </p:txBody>
      </p:sp>
      <p:sp>
        <p:nvSpPr>
          <p:cNvPr id="11" name="TextBox 10"/>
          <p:cNvSpPr txBox="1"/>
          <p:nvPr/>
        </p:nvSpPr>
        <p:spPr>
          <a:xfrm>
            <a:off x="1382050" y="2240280"/>
            <a:ext cx="1371600" cy="594360"/>
          </a:xfrm>
          <a:prstGeom prst="rect">
            <a:avLst/>
          </a:prstGeom>
          <a:noFill/>
        </p:spPr>
        <p:txBody>
          <a:bodyPr wrap="square">
            <a:spAutoFit/>
          </a:bodyPr>
          <a:lstStyle/>
          <a:p>
            <a:pPr algn="ctr"/>
            <a:r>
              <a:rPr sz="900" b="0" i="0">
                <a:solidFill>
                  <a:srgbClr val="1F4E79"/>
                </a:solidFill>
              </a:rPr>
              <a:t>Feature work
in own systems</a:t>
            </a:r>
          </a:p>
        </p:txBody>
      </p:sp>
      <p:sp>
        <p:nvSpPr>
          <p:cNvPr id="12" name="Oval 11"/>
          <p:cNvSpPr/>
          <p:nvPr/>
        </p:nvSpPr>
        <p:spPr>
          <a:xfrm>
            <a:off x="3518480"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38420" y="3364991"/>
            <a:ext cx="1280160" cy="594360"/>
          </a:xfrm>
          <a:prstGeom prst="rect">
            <a:avLst/>
          </a:prstGeom>
          <a:noFill/>
        </p:spPr>
        <p:txBody>
          <a:bodyPr wrap="square">
            <a:spAutoFit/>
          </a:bodyPr>
          <a:lstStyle/>
          <a:p>
            <a:pPr algn="ctr"/>
            <a:r>
              <a:rPr sz="1000" b="0" i="0">
                <a:solidFill>
                  <a:srgbClr val="333333"/>
                </a:solidFill>
              </a:rPr>
              <a:t>Day 10
Build Day</a:t>
            </a:r>
          </a:p>
        </p:txBody>
      </p:sp>
      <p:sp>
        <p:nvSpPr>
          <p:cNvPr id="14" name="TextBox 13"/>
          <p:cNvSpPr txBox="1"/>
          <p:nvPr/>
        </p:nvSpPr>
        <p:spPr>
          <a:xfrm>
            <a:off x="2992700" y="2240280"/>
            <a:ext cx="1371600" cy="594360"/>
          </a:xfrm>
          <a:prstGeom prst="rect">
            <a:avLst/>
          </a:prstGeom>
          <a:noFill/>
        </p:spPr>
        <p:txBody>
          <a:bodyPr wrap="square">
            <a:spAutoFit/>
          </a:bodyPr>
          <a:lstStyle/>
          <a:p>
            <a:pPr algn="ctr"/>
            <a:r>
              <a:rPr sz="900" b="0" i="0">
                <a:solidFill>
                  <a:srgbClr val="1F4E79"/>
                </a:solidFill>
              </a:rPr>
              <a:t>Manifest finalised
include/defer decision</a:t>
            </a:r>
          </a:p>
        </p:txBody>
      </p:sp>
      <p:sp>
        <p:nvSpPr>
          <p:cNvPr id="15" name="Oval 14"/>
          <p:cNvSpPr/>
          <p:nvPr/>
        </p:nvSpPr>
        <p:spPr>
          <a:xfrm>
            <a:off x="5129130"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9070" y="3364991"/>
            <a:ext cx="1280160" cy="594360"/>
          </a:xfrm>
          <a:prstGeom prst="rect">
            <a:avLst/>
          </a:prstGeom>
          <a:noFill/>
        </p:spPr>
        <p:txBody>
          <a:bodyPr wrap="square">
            <a:spAutoFit/>
          </a:bodyPr>
          <a:lstStyle/>
          <a:p>
            <a:pPr algn="ctr"/>
            <a:r>
              <a:rPr sz="1000" b="0" i="0">
                <a:solidFill>
                  <a:srgbClr val="333333"/>
                </a:solidFill>
              </a:rPr>
              <a:t>Day 10
Report Generated</a:t>
            </a:r>
          </a:p>
        </p:txBody>
      </p:sp>
      <p:sp>
        <p:nvSpPr>
          <p:cNvPr id="17" name="TextBox 16"/>
          <p:cNvSpPr txBox="1"/>
          <p:nvPr/>
        </p:nvSpPr>
        <p:spPr>
          <a:xfrm>
            <a:off x="4603350" y="2240280"/>
            <a:ext cx="1371600" cy="594360"/>
          </a:xfrm>
          <a:prstGeom prst="rect">
            <a:avLst/>
          </a:prstGeom>
          <a:noFill/>
        </p:spPr>
        <p:txBody>
          <a:bodyPr wrap="square">
            <a:spAutoFit/>
          </a:bodyPr>
          <a:lstStyle/>
          <a:p>
            <a:pPr algn="ctr"/>
            <a:r>
              <a:rPr sz="900" b="0" i="0">
                <a:solidFill>
                  <a:srgbClr val="1F4E79"/>
                </a:solidFill>
              </a:rPr>
              <a:t>Release notes
auto-generated</a:t>
            </a:r>
          </a:p>
        </p:txBody>
      </p:sp>
      <p:sp>
        <p:nvSpPr>
          <p:cNvPr id="18" name="Oval 17"/>
          <p:cNvSpPr/>
          <p:nvPr/>
        </p:nvSpPr>
        <p:spPr>
          <a:xfrm>
            <a:off x="6739781"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9721" y="3364991"/>
            <a:ext cx="1280160" cy="594360"/>
          </a:xfrm>
          <a:prstGeom prst="rect">
            <a:avLst/>
          </a:prstGeom>
          <a:noFill/>
        </p:spPr>
        <p:txBody>
          <a:bodyPr wrap="square">
            <a:spAutoFit/>
          </a:bodyPr>
          <a:lstStyle/>
          <a:p>
            <a:pPr algn="ctr"/>
            <a:r>
              <a:rPr sz="1000" b="0" i="0">
                <a:solidFill>
                  <a:srgbClr val="333333"/>
                </a:solidFill>
              </a:rPr>
              <a:t>Day 11
SIT Deploy</a:t>
            </a:r>
          </a:p>
        </p:txBody>
      </p:sp>
      <p:sp>
        <p:nvSpPr>
          <p:cNvPr id="20" name="TextBox 19"/>
          <p:cNvSpPr txBox="1"/>
          <p:nvPr/>
        </p:nvSpPr>
        <p:spPr>
          <a:xfrm>
            <a:off x="6214001" y="2240280"/>
            <a:ext cx="1371600" cy="594360"/>
          </a:xfrm>
          <a:prstGeom prst="rect">
            <a:avLst/>
          </a:prstGeom>
          <a:noFill/>
        </p:spPr>
        <p:txBody>
          <a:bodyPr wrap="square">
            <a:spAutoFit/>
          </a:bodyPr>
          <a:lstStyle/>
          <a:p>
            <a:pPr algn="ctr"/>
            <a:r>
              <a:rPr sz="900" b="0" i="0">
                <a:solidFill>
                  <a:srgbClr val="1F4E79"/>
                </a:solidFill>
              </a:rPr>
              <a:t>Tagged to exact
version deployed</a:t>
            </a:r>
          </a:p>
        </p:txBody>
      </p:sp>
      <p:sp>
        <p:nvSpPr>
          <p:cNvPr id="21" name="Oval 20"/>
          <p:cNvSpPr/>
          <p:nvPr/>
        </p:nvSpPr>
        <p:spPr>
          <a:xfrm>
            <a:off x="8350431"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0371" y="3364991"/>
            <a:ext cx="1280160" cy="594360"/>
          </a:xfrm>
          <a:prstGeom prst="rect">
            <a:avLst/>
          </a:prstGeom>
          <a:noFill/>
        </p:spPr>
        <p:txBody>
          <a:bodyPr wrap="square">
            <a:spAutoFit/>
          </a:bodyPr>
          <a:lstStyle/>
          <a:p>
            <a:pPr algn="ctr"/>
            <a:r>
              <a:rPr sz="1000" b="0" i="0">
                <a:solidFill>
                  <a:srgbClr val="333333"/>
                </a:solidFill>
              </a:rPr>
              <a:t>Days 12-14
SIT Testing</a:t>
            </a:r>
          </a:p>
        </p:txBody>
      </p:sp>
      <p:sp>
        <p:nvSpPr>
          <p:cNvPr id="23" name="TextBox 22"/>
          <p:cNvSpPr txBox="1"/>
          <p:nvPr/>
        </p:nvSpPr>
        <p:spPr>
          <a:xfrm>
            <a:off x="7824651" y="2240280"/>
            <a:ext cx="1371600" cy="594360"/>
          </a:xfrm>
          <a:prstGeom prst="rect">
            <a:avLst/>
          </a:prstGeom>
          <a:noFill/>
        </p:spPr>
        <p:txBody>
          <a:bodyPr wrap="square">
            <a:spAutoFit/>
          </a:bodyPr>
          <a:lstStyle/>
          <a:p>
            <a:pPr algn="ctr"/>
            <a:r>
              <a:rPr sz="900" b="0" i="0">
                <a:solidFill>
                  <a:srgbClr val="1F4E79"/>
                </a:solidFill>
              </a:rPr>
              <a:t>Defects raised
in ELM</a:t>
            </a:r>
          </a:p>
        </p:txBody>
      </p:sp>
      <p:sp>
        <p:nvSpPr>
          <p:cNvPr id="24" name="Oval 23"/>
          <p:cNvSpPr/>
          <p:nvPr/>
        </p:nvSpPr>
        <p:spPr>
          <a:xfrm>
            <a:off x="9961081"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81021" y="3364991"/>
            <a:ext cx="1280160" cy="594360"/>
          </a:xfrm>
          <a:prstGeom prst="rect">
            <a:avLst/>
          </a:prstGeom>
          <a:noFill/>
        </p:spPr>
        <p:txBody>
          <a:bodyPr wrap="square">
            <a:spAutoFit/>
          </a:bodyPr>
          <a:lstStyle/>
          <a:p>
            <a:pPr algn="ctr"/>
            <a:r>
              <a:rPr sz="1000" b="0" i="0">
                <a:solidFill>
                  <a:srgbClr val="333333"/>
                </a:solidFill>
              </a:rPr>
              <a:t>Day 15
UAT Deploy</a:t>
            </a:r>
          </a:p>
        </p:txBody>
      </p:sp>
      <p:sp>
        <p:nvSpPr>
          <p:cNvPr id="26" name="TextBox 25"/>
          <p:cNvSpPr txBox="1"/>
          <p:nvPr/>
        </p:nvSpPr>
        <p:spPr>
          <a:xfrm>
            <a:off x="9435301" y="2240280"/>
            <a:ext cx="1371600" cy="594360"/>
          </a:xfrm>
          <a:prstGeom prst="rect">
            <a:avLst/>
          </a:prstGeom>
          <a:noFill/>
        </p:spPr>
        <p:txBody>
          <a:bodyPr wrap="square">
            <a:spAutoFit/>
          </a:bodyPr>
          <a:lstStyle/>
          <a:p>
            <a:pPr algn="ctr"/>
            <a:r>
              <a:rPr sz="900" b="0" i="0">
                <a:solidFill>
                  <a:srgbClr val="1F4E79"/>
                </a:solidFill>
              </a:rPr>
              <a:t>Business
sign-off testing</a:t>
            </a:r>
          </a:p>
        </p:txBody>
      </p:sp>
      <p:sp>
        <p:nvSpPr>
          <p:cNvPr id="27" name="Oval 26"/>
          <p:cNvSpPr/>
          <p:nvPr/>
        </p:nvSpPr>
        <p:spPr>
          <a:xfrm>
            <a:off x="11571732" y="2985516"/>
            <a:ext cx="320040" cy="320040"/>
          </a:xfrm>
          <a:prstGeom prst="ellipse">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91672" y="3364991"/>
            <a:ext cx="1280160" cy="594360"/>
          </a:xfrm>
          <a:prstGeom prst="rect">
            <a:avLst/>
          </a:prstGeom>
          <a:noFill/>
        </p:spPr>
        <p:txBody>
          <a:bodyPr wrap="square">
            <a:spAutoFit/>
          </a:bodyPr>
          <a:lstStyle/>
          <a:p>
            <a:pPr algn="ctr"/>
            <a:r>
              <a:rPr sz="1000" b="0" i="0">
                <a:solidFill>
                  <a:srgbClr val="333333"/>
                </a:solidFill>
              </a:rPr>
              <a:t>Day 20
Sprint Close</a:t>
            </a:r>
          </a:p>
        </p:txBody>
      </p:sp>
      <p:sp>
        <p:nvSpPr>
          <p:cNvPr id="29" name="TextBox 28"/>
          <p:cNvSpPr txBox="1"/>
          <p:nvPr/>
        </p:nvSpPr>
        <p:spPr>
          <a:xfrm>
            <a:off x="11045952" y="2240280"/>
            <a:ext cx="1371600" cy="594360"/>
          </a:xfrm>
          <a:prstGeom prst="rect">
            <a:avLst/>
          </a:prstGeom>
          <a:noFill/>
        </p:spPr>
        <p:txBody>
          <a:bodyPr wrap="square">
            <a:spAutoFit/>
          </a:bodyPr>
          <a:lstStyle/>
          <a:p>
            <a:pPr algn="ctr"/>
            <a:r>
              <a:rPr sz="900" b="0" i="0">
                <a:solidFill>
                  <a:srgbClr val="1F4E79"/>
                </a:solidFill>
              </a:rPr>
              <a:t>Git branches
merged to main</a:t>
            </a:r>
          </a:p>
        </p:txBody>
      </p:sp>
      <p:sp>
        <p:nvSpPr>
          <p:cNvPr id="30" name="Rectangle 29"/>
          <p:cNvSpPr/>
          <p:nvPr/>
        </p:nvSpPr>
        <p:spPr>
          <a:xfrm>
            <a:off x="320040" y="4572000"/>
            <a:ext cx="3657600" cy="14630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709160"/>
            <a:ext cx="3383280" cy="411480"/>
          </a:xfrm>
          <a:prstGeom prst="rect">
            <a:avLst/>
          </a:prstGeom>
          <a:noFill/>
        </p:spPr>
        <p:txBody>
          <a:bodyPr wrap="square">
            <a:spAutoFit/>
          </a:bodyPr>
          <a:lstStyle/>
          <a:p>
            <a:pPr algn="l"/>
            <a:r>
              <a:rPr sz="1400" b="1" i="0">
                <a:solidFill>
                  <a:srgbClr val="1F4E79"/>
                </a:solidFill>
              </a:rPr>
              <a:t>3 of 4 teams included</a:t>
            </a:r>
          </a:p>
        </p:txBody>
      </p:sp>
      <p:sp>
        <p:nvSpPr>
          <p:cNvPr id="32" name="TextBox 31"/>
          <p:cNvSpPr txBox="1"/>
          <p:nvPr/>
        </p:nvSpPr>
        <p:spPr>
          <a:xfrm>
            <a:off x="457200" y="5166360"/>
            <a:ext cx="3383280" cy="731520"/>
          </a:xfrm>
          <a:prstGeom prst="rect">
            <a:avLst/>
          </a:prstGeom>
          <a:noFill/>
        </p:spPr>
        <p:txBody>
          <a:bodyPr wrap="square">
            <a:spAutoFit/>
          </a:bodyPr>
          <a:lstStyle/>
          <a:p>
            <a:pPr algn="l"/>
            <a:r>
              <a:rPr sz="1200" b="0" i="0">
                <a:solidFill>
                  <a:srgbClr val="333333"/>
                </a:solidFill>
              </a:rPr>
              <a:t>1 team deferred — no impact on build</a:t>
            </a:r>
          </a:p>
        </p:txBody>
      </p:sp>
      <p:sp>
        <p:nvSpPr>
          <p:cNvPr id="33" name="Rectangle 32"/>
          <p:cNvSpPr/>
          <p:nvPr/>
        </p:nvSpPr>
        <p:spPr>
          <a:xfrm>
            <a:off x="4224527" y="4572000"/>
            <a:ext cx="3657600" cy="14630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4709160"/>
            <a:ext cx="3383280" cy="411480"/>
          </a:xfrm>
          <a:prstGeom prst="rect">
            <a:avLst/>
          </a:prstGeom>
          <a:noFill/>
        </p:spPr>
        <p:txBody>
          <a:bodyPr wrap="square">
            <a:spAutoFit/>
          </a:bodyPr>
          <a:lstStyle/>
          <a:p>
            <a:pPr algn="l"/>
            <a:r>
              <a:rPr sz="1400" b="1" i="0">
                <a:solidFill>
                  <a:srgbClr val="1F4E79"/>
                </a:solidFill>
              </a:rPr>
              <a:t>1 COTS upgrade</a:t>
            </a:r>
          </a:p>
        </p:txBody>
      </p:sp>
      <p:sp>
        <p:nvSpPr>
          <p:cNvPr id="35" name="TextBox 34"/>
          <p:cNvSpPr txBox="1"/>
          <p:nvPr/>
        </p:nvSpPr>
        <p:spPr>
          <a:xfrm>
            <a:off x="4361688" y="5166360"/>
            <a:ext cx="3383280" cy="731520"/>
          </a:xfrm>
          <a:prstGeom prst="rect">
            <a:avLst/>
          </a:prstGeom>
          <a:noFill/>
        </p:spPr>
        <p:txBody>
          <a:bodyPr wrap="square">
            <a:spAutoFit/>
          </a:bodyPr>
          <a:lstStyle/>
          <a:p>
            <a:pPr algn="l"/>
            <a:r>
              <a:rPr sz="1200" b="0" i="0">
                <a:solidFill>
                  <a:srgbClr val="333333"/>
                </a:solidFill>
              </a:rPr>
              <a:t>2 hotfixes tracked and documented</a:t>
            </a:r>
          </a:p>
        </p:txBody>
      </p:sp>
      <p:sp>
        <p:nvSpPr>
          <p:cNvPr id="36" name="Rectangle 35"/>
          <p:cNvSpPr/>
          <p:nvPr/>
        </p:nvSpPr>
        <p:spPr>
          <a:xfrm>
            <a:off x="8129015" y="4572000"/>
            <a:ext cx="3657600" cy="14630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66175" y="4709160"/>
            <a:ext cx="3383280" cy="411480"/>
          </a:xfrm>
          <a:prstGeom prst="rect">
            <a:avLst/>
          </a:prstGeom>
          <a:noFill/>
        </p:spPr>
        <p:txBody>
          <a:bodyPr wrap="square">
            <a:spAutoFit/>
          </a:bodyPr>
          <a:lstStyle/>
          <a:p>
            <a:pPr algn="l"/>
            <a:r>
              <a:rPr sz="1400" b="1" i="0">
                <a:solidFill>
                  <a:srgbClr val="1F4E79"/>
                </a:solidFill>
              </a:rPr>
              <a:t>100% auditable</a:t>
            </a:r>
          </a:p>
        </p:txBody>
      </p:sp>
      <p:sp>
        <p:nvSpPr>
          <p:cNvPr id="38" name="TextBox 37"/>
          <p:cNvSpPr txBox="1"/>
          <p:nvPr/>
        </p:nvSpPr>
        <p:spPr>
          <a:xfrm>
            <a:off x="8266175" y="5166360"/>
            <a:ext cx="3383280" cy="731520"/>
          </a:xfrm>
          <a:prstGeom prst="rect">
            <a:avLst/>
          </a:prstGeom>
          <a:noFill/>
        </p:spPr>
        <p:txBody>
          <a:bodyPr wrap="square">
            <a:spAutoFit/>
          </a:bodyPr>
          <a:lstStyle/>
          <a:p>
            <a:pPr algn="l"/>
            <a:r>
              <a:rPr sz="1200" b="0" i="0">
                <a:solidFill>
                  <a:srgbClr val="333333"/>
                </a:solidFill>
              </a:rPr>
              <a:t>Every decision recorded in the manifest</a:t>
            </a:r>
          </a:p>
        </p:txBody>
      </p:sp>
      <p:sp>
        <p:nvSpPr>
          <p:cNvPr id="39" name="Rectangle 38"/>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36576"/>
            <a:ext cx="11430000" cy="411480"/>
          </a:xfrm>
          <a:prstGeom prst="rect">
            <a:avLst/>
          </a:prstGeom>
          <a:noFill/>
        </p:spPr>
        <p:txBody>
          <a:bodyPr wrap="square">
            <a:spAutoFit/>
          </a:bodyPr>
          <a:lstStyle/>
          <a:p>
            <a:pPr algn="l"/>
            <a:r>
              <a:rPr sz="2200" b="1" i="0">
                <a:solidFill>
                  <a:srgbClr val="FFFFFF"/>
                </a:solidFill>
              </a:rPr>
              <a:t>Risk Control — We Can Remove Any Team at Any Time</a:t>
            </a:r>
          </a:p>
        </p:txBody>
      </p:sp>
      <p:sp>
        <p:nvSpPr>
          <p:cNvPr id="5" name="Rectangle 4"/>
          <p:cNvSpPr/>
          <p:nvPr/>
        </p:nvSpPr>
        <p:spPr>
          <a:xfrm>
            <a:off x="320040" y="777240"/>
            <a:ext cx="5486400" cy="36576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822960"/>
            <a:ext cx="5303520" cy="292608"/>
          </a:xfrm>
          <a:prstGeom prst="rect">
            <a:avLst/>
          </a:prstGeom>
          <a:noFill/>
        </p:spPr>
        <p:txBody>
          <a:bodyPr wrap="square">
            <a:spAutoFit/>
          </a:bodyPr>
          <a:lstStyle/>
          <a:p>
            <a:pPr algn="l"/>
            <a:r>
              <a:rPr sz="1200" b="1" i="0">
                <a:solidFill>
                  <a:srgbClr val="FFFFFF"/>
                </a:solidFill>
              </a:rPr>
              <a:t>Scenario 1: Team not ready on Build Day</a:t>
            </a:r>
          </a:p>
        </p:txBody>
      </p:sp>
      <p:sp>
        <p:nvSpPr>
          <p:cNvPr id="7" name="Rectangle 6"/>
          <p:cNvSpPr/>
          <p:nvPr/>
        </p:nvSpPr>
        <p:spPr>
          <a:xfrm>
            <a:off x="320040" y="1143000"/>
            <a:ext cx="548640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43000"/>
            <a:ext cx="73152" cy="347472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 y="1252728"/>
            <a:ext cx="5212080" cy="365760"/>
          </a:xfrm>
          <a:prstGeom prst="rect">
            <a:avLst/>
          </a:prstGeom>
          <a:noFill/>
        </p:spPr>
        <p:txBody>
          <a:bodyPr wrap="square">
            <a:spAutoFit/>
          </a:bodyPr>
          <a:lstStyle/>
          <a:p>
            <a:pPr algn="l"/>
            <a:r>
              <a:rPr sz="1400" b="1" i="0">
                <a:solidFill>
                  <a:srgbClr val="333333"/>
                </a:solidFill>
              </a:rPr>
              <a:t>Team deferred before build</a:t>
            </a:r>
          </a:p>
        </p:txBody>
      </p:sp>
      <p:sp>
        <p:nvSpPr>
          <p:cNvPr id="10" name="TextBox 9"/>
          <p:cNvSpPr txBox="1"/>
          <p:nvPr/>
        </p:nvSpPr>
        <p:spPr>
          <a:xfrm>
            <a:off x="484632" y="1673352"/>
            <a:ext cx="5212080" cy="2377440"/>
          </a:xfrm>
          <a:prstGeom prst="rect">
            <a:avLst/>
          </a:prstGeom>
          <a:noFill/>
        </p:spPr>
        <p:txBody>
          <a:bodyPr wrap="square">
            <a:spAutoFit/>
          </a:bodyPr>
          <a:lstStyle/>
          <a:p>
            <a:pPr>
              <a:spcAft>
                <a:spcPts val="800"/>
              </a:spcAft>
            </a:pPr>
            <a:r>
              <a:rPr sz="1200">
                <a:solidFill>
                  <a:srgbClr val="333333"/>
                </a:solidFill>
              </a:rPr>
              <a:t>• CM marks team as 'Deferred' in the manifest Excel</a:t>
            </a:r>
          </a:p>
          <a:p>
            <a:pPr>
              <a:spcAft>
                <a:spcPts val="800"/>
              </a:spcAft>
            </a:pPr>
            <a:r>
              <a:rPr sz="1200">
                <a:solidFill>
                  <a:srgbClr val="333333"/>
                </a:solidFill>
              </a:rPr>
              <a:t>• Their work stays safely in their branch or SharePoint folder</a:t>
            </a:r>
          </a:p>
          <a:p>
            <a:pPr>
              <a:spcAft>
                <a:spcPts val="800"/>
              </a:spcAft>
            </a:pPr>
            <a:r>
              <a:rPr sz="1200">
                <a:solidFill>
                  <a:srgbClr val="333333"/>
                </a:solidFill>
              </a:rPr>
              <a:t>• Rest of the build proceeds unchanged</a:t>
            </a:r>
          </a:p>
          <a:p>
            <a:pPr>
              <a:spcAft>
                <a:spcPts val="800"/>
              </a:spcAft>
            </a:pPr>
            <a:r>
              <a:rPr sz="1200">
                <a:solidFill>
                  <a:srgbClr val="333333"/>
                </a:solidFill>
              </a:rPr>
              <a:t>• No code surgery — no rebasing — no risk to other teams</a:t>
            </a:r>
          </a:p>
          <a:p>
            <a:pPr>
              <a:spcAft>
                <a:spcPts val="800"/>
              </a:spcAft>
            </a:pPr>
            <a:r>
              <a:rPr sz="1200">
                <a:solidFill>
                  <a:srgbClr val="333333"/>
                </a:solidFill>
              </a:rPr>
              <a:t>• Deferred ELM items are noted and carried to the next sprint</a:t>
            </a:r>
          </a:p>
        </p:txBody>
      </p:sp>
      <p:sp>
        <p:nvSpPr>
          <p:cNvPr id="11" name="Rectangle 10"/>
          <p:cNvSpPr/>
          <p:nvPr/>
        </p:nvSpPr>
        <p:spPr>
          <a:xfrm>
            <a:off x="320040" y="4023360"/>
            <a:ext cx="5486400" cy="502920"/>
          </a:xfrm>
          <a:prstGeom prst="rect">
            <a:avLst/>
          </a:prstGeom>
          <a:solidFill>
            <a:srgbClr val="378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4114800"/>
            <a:ext cx="5303520" cy="320040"/>
          </a:xfrm>
          <a:prstGeom prst="rect">
            <a:avLst/>
          </a:prstGeom>
          <a:noFill/>
        </p:spPr>
        <p:txBody>
          <a:bodyPr wrap="square">
            <a:spAutoFit/>
          </a:bodyPr>
          <a:lstStyle/>
          <a:p>
            <a:pPr algn="ctr"/>
            <a:r>
              <a:rPr sz="1300" b="1" i="0">
                <a:solidFill>
                  <a:srgbClr val="FFFFFF"/>
                </a:solidFill>
              </a:rPr>
              <a:t>Zero impact on the rest of the build</a:t>
            </a:r>
          </a:p>
        </p:txBody>
      </p:sp>
      <p:sp>
        <p:nvSpPr>
          <p:cNvPr id="13" name="Rectangle 12"/>
          <p:cNvSpPr/>
          <p:nvPr/>
        </p:nvSpPr>
        <p:spPr>
          <a:xfrm>
            <a:off x="6126480" y="777240"/>
            <a:ext cx="576072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822960"/>
            <a:ext cx="5577840" cy="292608"/>
          </a:xfrm>
          <a:prstGeom prst="rect">
            <a:avLst/>
          </a:prstGeom>
          <a:noFill/>
        </p:spPr>
        <p:txBody>
          <a:bodyPr wrap="square">
            <a:spAutoFit/>
          </a:bodyPr>
          <a:lstStyle/>
          <a:p>
            <a:pPr algn="l"/>
            <a:r>
              <a:rPr sz="1200" b="1" i="0">
                <a:solidFill>
                  <a:srgbClr val="FFFFFF"/>
                </a:solidFill>
              </a:rPr>
              <a:t>Scenario 2: Problem found in SIT testing</a:t>
            </a:r>
          </a:p>
        </p:txBody>
      </p:sp>
      <p:sp>
        <p:nvSpPr>
          <p:cNvPr id="15" name="Rectangle 14"/>
          <p:cNvSpPr/>
          <p:nvPr/>
        </p:nvSpPr>
        <p:spPr>
          <a:xfrm>
            <a:off x="6126480" y="1143000"/>
            <a:ext cx="576072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143000"/>
            <a:ext cx="73152" cy="3474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252728"/>
            <a:ext cx="5486400" cy="365760"/>
          </a:xfrm>
          <a:prstGeom prst="rect">
            <a:avLst/>
          </a:prstGeom>
          <a:noFill/>
        </p:spPr>
        <p:txBody>
          <a:bodyPr wrap="square">
            <a:spAutoFit/>
          </a:bodyPr>
          <a:lstStyle/>
          <a:p>
            <a:pPr algn="l"/>
            <a:r>
              <a:rPr sz="1400" b="1" i="0">
                <a:solidFill>
                  <a:srgbClr val="333333"/>
                </a:solidFill>
              </a:rPr>
              <a:t>Team removed mid-SIT</a:t>
            </a:r>
          </a:p>
        </p:txBody>
      </p:sp>
      <p:sp>
        <p:nvSpPr>
          <p:cNvPr id="18" name="TextBox 17"/>
          <p:cNvSpPr txBox="1"/>
          <p:nvPr/>
        </p:nvSpPr>
        <p:spPr>
          <a:xfrm>
            <a:off x="6291072" y="1673352"/>
            <a:ext cx="5486400" cy="2377440"/>
          </a:xfrm>
          <a:prstGeom prst="rect">
            <a:avLst/>
          </a:prstGeom>
          <a:noFill/>
        </p:spPr>
        <p:txBody>
          <a:bodyPr wrap="square">
            <a:spAutoFit/>
          </a:bodyPr>
          <a:lstStyle/>
          <a:p>
            <a:pPr>
              <a:spcAft>
                <a:spcPts val="800"/>
              </a:spcAft>
            </a:pPr>
            <a:r>
              <a:rPr sz="1200">
                <a:solidFill>
                  <a:srgbClr val="333333"/>
                </a:solidFill>
              </a:rPr>
              <a:t>• CM creates a 'patch' manifest — a copy with that team excluded</a:t>
            </a:r>
          </a:p>
          <a:p>
            <a:pPr>
              <a:spcAft>
                <a:spcPts val="800"/>
              </a:spcAft>
            </a:pPr>
            <a:r>
              <a:rPr sz="1200">
                <a:solidFill>
                  <a:srgbClr val="333333"/>
                </a:solidFill>
              </a:rPr>
              <a:t>• Patch build is deployed to SIT (other teams unaffected)</a:t>
            </a:r>
          </a:p>
          <a:p>
            <a:pPr>
              <a:spcAft>
                <a:spcPts val="800"/>
              </a:spcAft>
            </a:pPr>
            <a:r>
              <a:rPr sz="1200">
                <a:solidFill>
                  <a:srgbClr val="333333"/>
                </a:solidFill>
              </a:rPr>
              <a:t>• Original manifest is preserved as audit record</a:t>
            </a:r>
          </a:p>
          <a:p>
            <a:pPr>
              <a:spcAft>
                <a:spcPts val="800"/>
              </a:spcAft>
            </a:pPr>
            <a:r>
              <a:rPr sz="1200">
                <a:solidFill>
                  <a:srgbClr val="333333"/>
                </a:solidFill>
              </a:rPr>
              <a:t>• Issue is logged in ELM and tracked for next sprint</a:t>
            </a:r>
          </a:p>
          <a:p>
            <a:pPr>
              <a:spcAft>
                <a:spcPts val="800"/>
              </a:spcAft>
            </a:pPr>
            <a:r>
              <a:rPr sz="1200">
                <a:solidFill>
                  <a:srgbClr val="333333"/>
                </a:solidFill>
              </a:rPr>
              <a:t>• No production risk — defect caught in SIT</a:t>
            </a:r>
          </a:p>
        </p:txBody>
      </p:sp>
      <p:sp>
        <p:nvSpPr>
          <p:cNvPr id="19" name="Rectangle 18"/>
          <p:cNvSpPr/>
          <p:nvPr/>
        </p:nvSpPr>
        <p:spPr>
          <a:xfrm>
            <a:off x="6126480" y="4023360"/>
            <a:ext cx="5760720" cy="502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4114800"/>
            <a:ext cx="5577840" cy="320040"/>
          </a:xfrm>
          <a:prstGeom prst="rect">
            <a:avLst/>
          </a:prstGeom>
          <a:noFill/>
        </p:spPr>
        <p:txBody>
          <a:bodyPr wrap="square">
            <a:spAutoFit/>
          </a:bodyPr>
          <a:lstStyle/>
          <a:p>
            <a:pPr algn="ctr"/>
            <a:r>
              <a:rPr sz="1300" b="1" i="0">
                <a:solidFill>
                  <a:srgbClr val="FFFFFF"/>
                </a:solidFill>
              </a:rPr>
              <a:t>Original audit trail is never overwritten</a:t>
            </a:r>
          </a:p>
        </p:txBody>
      </p:sp>
      <p:sp>
        <p:nvSpPr>
          <p:cNvPr id="21" name="Rectangle 20"/>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1274552" cy="777240"/>
          </a:xfrm>
          <a:prstGeom prst="rect">
            <a:avLst/>
          </a:prstGeom>
          <a:noFill/>
        </p:spPr>
        <p:txBody>
          <a:bodyPr wrap="square">
            <a:spAutoFit/>
          </a:bodyPr>
          <a:lstStyle/>
          <a:p>
            <a:pPr algn="ctr"/>
            <a:r>
              <a:rPr sz="3600" b="1" i="0">
                <a:solidFill>
                  <a:srgbClr val="FFFFFF"/>
                </a:solidFill>
              </a:rPr>
              <a:t>Why This Approach Works</a:t>
            </a:r>
          </a:p>
        </p:txBody>
      </p:sp>
      <p:sp>
        <p:nvSpPr>
          <p:cNvPr id="5" name="TextBox 4"/>
          <p:cNvSpPr txBox="1"/>
          <p:nvPr/>
        </p:nvSpPr>
        <p:spPr>
          <a:xfrm>
            <a:off x="457200" y="1051560"/>
            <a:ext cx="11274552" cy="365760"/>
          </a:xfrm>
          <a:prstGeom prst="rect">
            <a:avLst/>
          </a:prstGeom>
          <a:noFill/>
        </p:spPr>
        <p:txBody>
          <a:bodyPr wrap="square">
            <a:spAutoFit/>
          </a:bodyPr>
          <a:lstStyle/>
          <a:p>
            <a:pPr algn="ctr"/>
            <a:r>
              <a:rPr sz="1600" b="0" i="0">
                <a:solidFill>
                  <a:srgbClr val="DEEBF7"/>
                </a:solidFill>
              </a:rPr>
              <a:t>Designed for compliance, flexibility, and scale</a:t>
            </a:r>
          </a:p>
        </p:txBody>
      </p:sp>
      <p:sp>
        <p:nvSpPr>
          <p:cNvPr id="6" name="Rectangle 5"/>
          <p:cNvSpPr/>
          <p:nvPr/>
        </p:nvSpPr>
        <p:spPr>
          <a:xfrm>
            <a:off x="320040" y="160020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60020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91640"/>
            <a:ext cx="3419856" cy="384048"/>
          </a:xfrm>
          <a:prstGeom prst="rect">
            <a:avLst/>
          </a:prstGeom>
          <a:noFill/>
        </p:spPr>
        <p:txBody>
          <a:bodyPr wrap="square">
            <a:spAutoFit/>
          </a:bodyPr>
          <a:lstStyle/>
          <a:p>
            <a:pPr algn="l"/>
            <a:r>
              <a:rPr sz="1400" b="1" i="0">
                <a:solidFill>
                  <a:srgbClr val="333333"/>
                </a:solidFill>
              </a:rPr>
              <a:t>Full Audit Trail</a:t>
            </a:r>
          </a:p>
        </p:txBody>
      </p:sp>
      <p:sp>
        <p:nvSpPr>
          <p:cNvPr id="9" name="TextBox 8"/>
          <p:cNvSpPr txBox="1"/>
          <p:nvPr/>
        </p:nvSpPr>
        <p:spPr>
          <a:xfrm>
            <a:off x="502920" y="2075688"/>
            <a:ext cx="3419856" cy="658368"/>
          </a:xfrm>
          <a:prstGeom prst="rect">
            <a:avLst/>
          </a:prstGeom>
          <a:noFill/>
        </p:spPr>
        <p:txBody>
          <a:bodyPr wrap="square">
            <a:spAutoFit/>
          </a:bodyPr>
          <a:lstStyle/>
          <a:p>
            <a:pPr algn="l"/>
            <a:r>
              <a:rPr sz="1100" b="0" i="0">
                <a:solidFill>
                  <a:srgbClr val="707070"/>
                </a:solidFill>
              </a:rPr>
              <a:t>Every build decision is recorded with who, what, and when</a:t>
            </a:r>
          </a:p>
        </p:txBody>
      </p:sp>
      <p:sp>
        <p:nvSpPr>
          <p:cNvPr id="10" name="Rectangle 9"/>
          <p:cNvSpPr/>
          <p:nvPr/>
        </p:nvSpPr>
        <p:spPr>
          <a:xfrm>
            <a:off x="4224527" y="160020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24527" y="160020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7" y="1691640"/>
            <a:ext cx="3419856" cy="384048"/>
          </a:xfrm>
          <a:prstGeom prst="rect">
            <a:avLst/>
          </a:prstGeom>
          <a:noFill/>
        </p:spPr>
        <p:txBody>
          <a:bodyPr wrap="square">
            <a:spAutoFit/>
          </a:bodyPr>
          <a:lstStyle/>
          <a:p>
            <a:pPr algn="l"/>
            <a:r>
              <a:rPr sz="1400" b="1" i="0">
                <a:solidFill>
                  <a:srgbClr val="333333"/>
                </a:solidFill>
              </a:rPr>
              <a:t>Works for Any Team</a:t>
            </a:r>
          </a:p>
        </p:txBody>
      </p:sp>
      <p:sp>
        <p:nvSpPr>
          <p:cNvPr id="13" name="TextBox 12"/>
          <p:cNvSpPr txBox="1"/>
          <p:nvPr/>
        </p:nvSpPr>
        <p:spPr>
          <a:xfrm>
            <a:off x="4407407" y="2075688"/>
            <a:ext cx="3419856" cy="658368"/>
          </a:xfrm>
          <a:prstGeom prst="rect">
            <a:avLst/>
          </a:prstGeom>
          <a:noFill/>
        </p:spPr>
        <p:txBody>
          <a:bodyPr wrap="square">
            <a:spAutoFit/>
          </a:bodyPr>
          <a:lstStyle/>
          <a:p>
            <a:pPr algn="l"/>
            <a:r>
              <a:rPr sz="1100" b="0" i="0">
                <a:solidFill>
                  <a:srgbClr val="707070"/>
                </a:solidFill>
              </a:rPr>
              <a:t>Git, SharePoint, or vendor packages — all in one build</a:t>
            </a:r>
          </a:p>
        </p:txBody>
      </p:sp>
      <p:sp>
        <p:nvSpPr>
          <p:cNvPr id="14" name="Rectangle 13"/>
          <p:cNvSpPr/>
          <p:nvPr/>
        </p:nvSpPr>
        <p:spPr>
          <a:xfrm>
            <a:off x="8129015" y="160020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5" y="160020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1895" y="1691640"/>
            <a:ext cx="3419856" cy="384048"/>
          </a:xfrm>
          <a:prstGeom prst="rect">
            <a:avLst/>
          </a:prstGeom>
          <a:noFill/>
        </p:spPr>
        <p:txBody>
          <a:bodyPr wrap="square">
            <a:spAutoFit/>
          </a:bodyPr>
          <a:lstStyle/>
          <a:p>
            <a:pPr algn="l"/>
            <a:r>
              <a:rPr sz="1400" b="1" i="0">
                <a:solidFill>
                  <a:srgbClr val="333333"/>
                </a:solidFill>
              </a:rPr>
              <a:t>No Build Held Hostage</a:t>
            </a:r>
          </a:p>
        </p:txBody>
      </p:sp>
      <p:sp>
        <p:nvSpPr>
          <p:cNvPr id="17" name="TextBox 16"/>
          <p:cNvSpPr txBox="1"/>
          <p:nvPr/>
        </p:nvSpPr>
        <p:spPr>
          <a:xfrm>
            <a:off x="8311895" y="2075688"/>
            <a:ext cx="3419856" cy="658368"/>
          </a:xfrm>
          <a:prstGeom prst="rect">
            <a:avLst/>
          </a:prstGeom>
          <a:noFill/>
        </p:spPr>
        <p:txBody>
          <a:bodyPr wrap="square">
            <a:spAutoFit/>
          </a:bodyPr>
          <a:lstStyle/>
          <a:p>
            <a:pPr algn="l"/>
            <a:r>
              <a:rPr sz="1100" b="0" i="0">
                <a:solidFill>
                  <a:srgbClr val="707070"/>
                </a:solidFill>
              </a:rPr>
              <a:t>One team's issues never delay everyone else's release</a:t>
            </a:r>
          </a:p>
        </p:txBody>
      </p:sp>
      <p:sp>
        <p:nvSpPr>
          <p:cNvPr id="18" name="Rectangle 17"/>
          <p:cNvSpPr/>
          <p:nvPr/>
        </p:nvSpPr>
        <p:spPr>
          <a:xfrm>
            <a:off x="320040" y="301752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01752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108960"/>
            <a:ext cx="3419856" cy="384048"/>
          </a:xfrm>
          <a:prstGeom prst="rect">
            <a:avLst/>
          </a:prstGeom>
          <a:noFill/>
        </p:spPr>
        <p:txBody>
          <a:bodyPr wrap="square">
            <a:spAutoFit/>
          </a:bodyPr>
          <a:lstStyle/>
          <a:p>
            <a:pPr algn="l"/>
            <a:r>
              <a:rPr sz="1400" b="1" i="0">
                <a:solidFill>
                  <a:srgbClr val="333333"/>
                </a:solidFill>
              </a:rPr>
              <a:t>ELM Traceability</a:t>
            </a:r>
          </a:p>
        </p:txBody>
      </p:sp>
      <p:sp>
        <p:nvSpPr>
          <p:cNvPr id="21" name="TextBox 20"/>
          <p:cNvSpPr txBox="1"/>
          <p:nvPr/>
        </p:nvSpPr>
        <p:spPr>
          <a:xfrm>
            <a:off x="502920" y="3493008"/>
            <a:ext cx="3419856" cy="658368"/>
          </a:xfrm>
          <a:prstGeom prst="rect">
            <a:avLst/>
          </a:prstGeom>
          <a:noFill/>
        </p:spPr>
        <p:txBody>
          <a:bodyPr wrap="square">
            <a:spAutoFit/>
          </a:bodyPr>
          <a:lstStyle/>
          <a:p>
            <a:pPr algn="l"/>
            <a:r>
              <a:rPr sz="1100" b="0" i="0">
                <a:solidFill>
                  <a:srgbClr val="707070"/>
                </a:solidFill>
              </a:rPr>
              <a:t>Every change links back to an ELM work item end-to-end</a:t>
            </a:r>
          </a:p>
        </p:txBody>
      </p:sp>
      <p:sp>
        <p:nvSpPr>
          <p:cNvPr id="22" name="Rectangle 21"/>
          <p:cNvSpPr/>
          <p:nvPr/>
        </p:nvSpPr>
        <p:spPr>
          <a:xfrm>
            <a:off x="4224527" y="301752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24527" y="301752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7" y="3108960"/>
            <a:ext cx="3419856" cy="384048"/>
          </a:xfrm>
          <a:prstGeom prst="rect">
            <a:avLst/>
          </a:prstGeom>
          <a:noFill/>
        </p:spPr>
        <p:txBody>
          <a:bodyPr wrap="square">
            <a:spAutoFit/>
          </a:bodyPr>
          <a:lstStyle/>
          <a:p>
            <a:pPr algn="l"/>
            <a:r>
              <a:rPr sz="1400" b="1" i="0">
                <a:solidFill>
                  <a:srgbClr val="333333"/>
                </a:solidFill>
              </a:rPr>
              <a:t>Repeatable Process</a:t>
            </a:r>
          </a:p>
        </p:txBody>
      </p:sp>
      <p:sp>
        <p:nvSpPr>
          <p:cNvPr id="25" name="TextBox 24"/>
          <p:cNvSpPr txBox="1"/>
          <p:nvPr/>
        </p:nvSpPr>
        <p:spPr>
          <a:xfrm>
            <a:off x="4407407" y="3493008"/>
            <a:ext cx="3419856" cy="658368"/>
          </a:xfrm>
          <a:prstGeom prst="rect">
            <a:avLst/>
          </a:prstGeom>
          <a:noFill/>
        </p:spPr>
        <p:txBody>
          <a:bodyPr wrap="square">
            <a:spAutoFit/>
          </a:bodyPr>
          <a:lstStyle/>
          <a:p>
            <a:pPr algn="l"/>
            <a:r>
              <a:rPr sz="1100" b="0" i="0">
                <a:solidFill>
                  <a:srgbClr val="707070"/>
                </a:solidFill>
              </a:rPr>
              <a:t>Same scripts, same Excel template, every sprint — no surprises</a:t>
            </a:r>
          </a:p>
        </p:txBody>
      </p:sp>
      <p:sp>
        <p:nvSpPr>
          <p:cNvPr id="26" name="Rectangle 25"/>
          <p:cNvSpPr/>
          <p:nvPr/>
        </p:nvSpPr>
        <p:spPr>
          <a:xfrm>
            <a:off x="8129015" y="3017520"/>
            <a:ext cx="365760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29015" y="3017520"/>
            <a:ext cx="73152" cy="12344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1895" y="3108960"/>
            <a:ext cx="3419856" cy="384048"/>
          </a:xfrm>
          <a:prstGeom prst="rect">
            <a:avLst/>
          </a:prstGeom>
          <a:noFill/>
        </p:spPr>
        <p:txBody>
          <a:bodyPr wrap="square">
            <a:spAutoFit/>
          </a:bodyPr>
          <a:lstStyle/>
          <a:p>
            <a:pPr algn="l"/>
            <a:r>
              <a:rPr sz="1400" b="1" i="0">
                <a:solidFill>
                  <a:srgbClr val="333333"/>
                </a:solidFill>
              </a:rPr>
              <a:t>Compliance Ready</a:t>
            </a:r>
          </a:p>
        </p:txBody>
      </p:sp>
      <p:sp>
        <p:nvSpPr>
          <p:cNvPr id="29" name="TextBox 28"/>
          <p:cNvSpPr txBox="1"/>
          <p:nvPr/>
        </p:nvSpPr>
        <p:spPr>
          <a:xfrm>
            <a:off x="8311895" y="3493008"/>
            <a:ext cx="3419856" cy="658368"/>
          </a:xfrm>
          <a:prstGeom prst="rect">
            <a:avLst/>
          </a:prstGeom>
          <a:noFill/>
        </p:spPr>
        <p:txBody>
          <a:bodyPr wrap="square">
            <a:spAutoFit/>
          </a:bodyPr>
          <a:lstStyle/>
          <a:p>
            <a:pPr algn="l"/>
            <a:r>
              <a:rPr sz="1100" b="0" i="0">
                <a:solidFill>
                  <a:srgbClr val="707070"/>
                </a:solidFill>
              </a:rPr>
              <a:t>Immutable audit log meets regulatory and CM board requirements</a:t>
            </a:r>
          </a:p>
        </p:txBody>
      </p:sp>
      <p:sp>
        <p:nvSpPr>
          <p:cNvPr id="30" name="Rectangle 29"/>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88952" cy="5486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77240"/>
            <a:ext cx="11274552" cy="822960"/>
          </a:xfrm>
          <a:prstGeom prst="rect">
            <a:avLst/>
          </a:prstGeom>
          <a:noFill/>
        </p:spPr>
        <p:txBody>
          <a:bodyPr wrap="square">
            <a:spAutoFit/>
          </a:bodyPr>
          <a:lstStyle/>
          <a:p>
            <a:pPr algn="ctr"/>
            <a:r>
              <a:rPr sz="3600" b="1" i="0">
                <a:solidFill>
                  <a:srgbClr val="FFFFFF"/>
                </a:solidFill>
              </a:rPr>
              <a:t>This Strategy Is Live and Proven</a:t>
            </a:r>
          </a:p>
        </p:txBody>
      </p:sp>
      <p:sp>
        <p:nvSpPr>
          <p:cNvPr id="5" name="TextBox 4"/>
          <p:cNvSpPr txBox="1"/>
          <p:nvPr/>
        </p:nvSpPr>
        <p:spPr>
          <a:xfrm>
            <a:off x="457200" y="1463040"/>
            <a:ext cx="11274552" cy="411480"/>
          </a:xfrm>
          <a:prstGeom prst="rect">
            <a:avLst/>
          </a:prstGeom>
          <a:noFill/>
        </p:spPr>
        <p:txBody>
          <a:bodyPr wrap="square">
            <a:spAutoFit/>
          </a:bodyPr>
          <a:lstStyle/>
          <a:p>
            <a:pPr algn="ctr"/>
            <a:r>
              <a:rPr sz="1600" b="0" i="0">
                <a:solidFill>
                  <a:srgbClr val="DEEBF7"/>
                </a:solidFill>
              </a:rPr>
              <a:t>Sprint-12 completed end-to-end using this process</a:t>
            </a:r>
          </a:p>
        </p:txBody>
      </p:sp>
      <p:sp>
        <p:nvSpPr>
          <p:cNvPr id="6" name="Rectangle 5"/>
          <p:cNvSpPr/>
          <p:nvPr/>
        </p:nvSpPr>
        <p:spPr>
          <a:xfrm>
            <a:off x="320040" y="2057400"/>
            <a:ext cx="3749039" cy="2011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40280"/>
            <a:ext cx="3383279" cy="502920"/>
          </a:xfrm>
          <a:prstGeom prst="rect">
            <a:avLst/>
          </a:prstGeom>
          <a:noFill/>
        </p:spPr>
        <p:txBody>
          <a:bodyPr wrap="square">
            <a:spAutoFit/>
          </a:bodyPr>
          <a:lstStyle/>
          <a:p>
            <a:pPr algn="l"/>
            <a:r>
              <a:rPr sz="1800" b="1" i="0">
                <a:solidFill>
                  <a:srgbClr val="FFFFFF"/>
                </a:solidFill>
              </a:rPr>
              <a:t>5 Teams Onboarded</a:t>
            </a:r>
          </a:p>
        </p:txBody>
      </p:sp>
      <p:sp>
        <p:nvSpPr>
          <p:cNvPr id="8" name="TextBox 7"/>
          <p:cNvSpPr txBox="1"/>
          <p:nvPr/>
        </p:nvSpPr>
        <p:spPr>
          <a:xfrm>
            <a:off x="502920" y="2807208"/>
            <a:ext cx="3383279" cy="1097280"/>
          </a:xfrm>
          <a:prstGeom prst="rect">
            <a:avLst/>
          </a:prstGeom>
          <a:noFill/>
        </p:spPr>
        <p:txBody>
          <a:bodyPr wrap="square">
            <a:spAutoFit/>
          </a:bodyPr>
          <a:lstStyle/>
          <a:p>
            <a:pPr algn="l"/>
            <a:r>
              <a:rPr sz="1300" b="0" i="0">
                <a:solidFill>
                  <a:srgbClr val="DEEBF7"/>
                </a:solidFill>
              </a:rPr>
              <a:t>Mix of Git and SharePoint — all managed from one manifest</a:t>
            </a:r>
          </a:p>
        </p:txBody>
      </p:sp>
      <p:sp>
        <p:nvSpPr>
          <p:cNvPr id="9" name="Rectangle 8"/>
          <p:cNvSpPr/>
          <p:nvPr/>
        </p:nvSpPr>
        <p:spPr>
          <a:xfrm>
            <a:off x="4315967" y="2057400"/>
            <a:ext cx="3749039" cy="2011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7" y="2240280"/>
            <a:ext cx="3383279" cy="502920"/>
          </a:xfrm>
          <a:prstGeom prst="rect">
            <a:avLst/>
          </a:prstGeom>
          <a:noFill/>
        </p:spPr>
        <p:txBody>
          <a:bodyPr wrap="square">
            <a:spAutoFit/>
          </a:bodyPr>
          <a:lstStyle/>
          <a:p>
            <a:pPr algn="l"/>
            <a:r>
              <a:rPr sz="1800" b="1" i="0">
                <a:solidFill>
                  <a:srgbClr val="FFFFFF"/>
                </a:solidFill>
              </a:rPr>
              <a:t>Bi-Weekly Cadence</a:t>
            </a:r>
          </a:p>
        </p:txBody>
      </p:sp>
      <p:sp>
        <p:nvSpPr>
          <p:cNvPr id="11" name="TextBox 10"/>
          <p:cNvSpPr txBox="1"/>
          <p:nvPr/>
        </p:nvSpPr>
        <p:spPr>
          <a:xfrm>
            <a:off x="4498847" y="2807208"/>
            <a:ext cx="3383279" cy="1097280"/>
          </a:xfrm>
          <a:prstGeom prst="rect">
            <a:avLst/>
          </a:prstGeom>
          <a:noFill/>
        </p:spPr>
        <p:txBody>
          <a:bodyPr wrap="square">
            <a:spAutoFit/>
          </a:bodyPr>
          <a:lstStyle/>
          <a:p>
            <a:pPr algn="l"/>
            <a:r>
              <a:rPr sz="1300" b="0" i="0">
                <a:solidFill>
                  <a:srgbClr val="DEEBF7"/>
                </a:solidFill>
              </a:rPr>
              <a:t>Sprint cut → SIT → UAT → Release in under 3 weeks</a:t>
            </a:r>
          </a:p>
        </p:txBody>
      </p:sp>
      <p:sp>
        <p:nvSpPr>
          <p:cNvPr id="12" name="Rectangle 11"/>
          <p:cNvSpPr/>
          <p:nvPr/>
        </p:nvSpPr>
        <p:spPr>
          <a:xfrm>
            <a:off x="8311895" y="2057400"/>
            <a:ext cx="3749039" cy="20116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94775" y="2240280"/>
            <a:ext cx="3383279" cy="502920"/>
          </a:xfrm>
          <a:prstGeom prst="rect">
            <a:avLst/>
          </a:prstGeom>
          <a:noFill/>
        </p:spPr>
        <p:txBody>
          <a:bodyPr wrap="square">
            <a:spAutoFit/>
          </a:bodyPr>
          <a:lstStyle/>
          <a:p>
            <a:pPr algn="l"/>
            <a:r>
              <a:rPr sz="1800" b="1" i="0">
                <a:solidFill>
                  <a:srgbClr val="FFFFFF"/>
                </a:solidFill>
              </a:rPr>
              <a:t>Zero Process Gaps</a:t>
            </a:r>
          </a:p>
        </p:txBody>
      </p:sp>
      <p:sp>
        <p:nvSpPr>
          <p:cNvPr id="14" name="TextBox 13"/>
          <p:cNvSpPr txBox="1"/>
          <p:nvPr/>
        </p:nvSpPr>
        <p:spPr>
          <a:xfrm>
            <a:off x="8494775" y="2807208"/>
            <a:ext cx="3383279" cy="1097280"/>
          </a:xfrm>
          <a:prstGeom prst="rect">
            <a:avLst/>
          </a:prstGeom>
          <a:noFill/>
        </p:spPr>
        <p:txBody>
          <a:bodyPr wrap="square">
            <a:spAutoFit/>
          </a:bodyPr>
          <a:lstStyle/>
          <a:p>
            <a:pPr algn="l"/>
            <a:r>
              <a:rPr sz="1300" b="0" i="0">
                <a:solidFill>
                  <a:srgbClr val="DEEBF7"/>
                </a:solidFill>
              </a:rPr>
              <a:t>Deferred teams, mid-SIT removals, COTS upgrades — all covered</a:t>
            </a:r>
          </a:p>
        </p:txBody>
      </p:sp>
      <p:sp>
        <p:nvSpPr>
          <p:cNvPr id="15" name="Rectangle 14"/>
          <p:cNvSpPr/>
          <p:nvPr/>
        </p:nvSpPr>
        <p:spPr>
          <a:xfrm>
            <a:off x="320040" y="4297680"/>
            <a:ext cx="11548872" cy="1417320"/>
          </a:xfrm>
          <a:prstGeom prst="rect">
            <a:avLst/>
          </a:prstGeom>
          <a:solidFill>
            <a:srgbClr val="263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4297680"/>
            <a:ext cx="91440" cy="14173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526280"/>
            <a:ext cx="11064240" cy="1005840"/>
          </a:xfrm>
          <a:prstGeom prst="rect">
            <a:avLst/>
          </a:prstGeom>
          <a:noFill/>
        </p:spPr>
        <p:txBody>
          <a:bodyPr wrap="square">
            <a:spAutoFit/>
          </a:bodyPr>
          <a:lstStyle/>
          <a:p>
            <a:pPr algn="l"/>
            <a:r>
              <a:rPr sz="1400" b="0" i="0">
                <a:solidFill>
                  <a:srgbClr val="FFFFFF"/>
                </a:solidFill>
              </a:rPr>
              <a:t>The manifest Excel file is the contract between the CM team and every delivery team. It is the only document that needs to be reviewed before any build goes to SIT or UAT.</a:t>
            </a:r>
          </a:p>
        </p:txBody>
      </p:sp>
      <p:sp>
        <p:nvSpPr>
          <p:cNvPr id="18" name="Rectangle 17"/>
          <p:cNvSpPr/>
          <p:nvPr/>
        </p:nvSpPr>
        <p:spPr>
          <a:xfrm>
            <a:off x="0" y="6583680"/>
            <a:ext cx="12188952" cy="274320"/>
          </a:xfrm>
          <a:prstGeom prst="rect">
            <a:avLst/>
          </a:prstGeom>
          <a:solidFill>
            <a:srgbClr val="1A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0" y="6583680"/>
            <a:ext cx="12188952" cy="274320"/>
          </a:xfrm>
          <a:prstGeom prst="rect">
            <a:avLst/>
          </a:prstGeom>
          <a:noFill/>
        </p:spPr>
        <p:txBody>
          <a:bodyPr wrap="square">
            <a:spAutoFit/>
          </a:bodyPr>
          <a:lstStyle/>
          <a:p>
            <a:pPr algn="ctr"/>
            <a:r>
              <a:rPr sz="900" b="0" i="0">
                <a:solidFill>
                  <a:srgbClr val="707070"/>
                </a:solidFill>
              </a:rPr>
              <a:t>Release Management Strategy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